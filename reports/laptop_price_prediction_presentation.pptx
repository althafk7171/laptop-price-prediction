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E0E4C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C2C4B5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E0E4C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C2C4B5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E0E4C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E0E4C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8938" y="7749540"/>
            <a:ext cx="1722882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4763" y="748792"/>
            <a:ext cx="13580872" cy="14842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E0E4C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6038" y="2227071"/>
            <a:ext cx="7635240" cy="4948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C2C4B5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779502" y="7627619"/>
            <a:ext cx="1851025" cy="601980"/>
          </a:xfrm>
          <a:custGeom>
            <a:avLst/>
            <a:gdLst/>
            <a:ahLst/>
            <a:cxnLst/>
            <a:rect l="l" t="t" r="r" b="b"/>
            <a:pathLst>
              <a:path w="1851025" h="601979">
                <a:moveTo>
                  <a:pt x="1850898" y="0"/>
                </a:moveTo>
                <a:lnTo>
                  <a:pt x="0" y="0"/>
                </a:lnTo>
                <a:lnTo>
                  <a:pt x="0" y="601979"/>
                </a:lnTo>
                <a:lnTo>
                  <a:pt x="1850898" y="601979"/>
                </a:lnTo>
                <a:lnTo>
                  <a:pt x="1850898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81014" y="2138934"/>
            <a:ext cx="7839709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Laptop</a:t>
            </a:r>
            <a:r>
              <a:rPr dirty="0" sz="6000" spc="-130"/>
              <a:t> </a:t>
            </a:r>
            <a:r>
              <a:rPr dirty="0" sz="6000"/>
              <a:t>Price</a:t>
            </a:r>
            <a:r>
              <a:rPr dirty="0" sz="6000" spc="-105"/>
              <a:t> </a:t>
            </a:r>
            <a:r>
              <a:rPr dirty="0" sz="6000" spc="-10"/>
              <a:t>Prediction</a:t>
            </a:r>
            <a:endParaRPr sz="6000"/>
          </a:p>
        </p:txBody>
      </p:sp>
      <p:sp>
        <p:nvSpPr>
          <p:cNvPr id="4" name="object 4" descr=""/>
          <p:cNvSpPr txBox="1"/>
          <p:nvPr/>
        </p:nvSpPr>
        <p:spPr>
          <a:xfrm>
            <a:off x="6188709" y="3993692"/>
            <a:ext cx="2957830" cy="149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100"/>
              </a:spcBef>
            </a:pPr>
            <a:r>
              <a:rPr dirty="0" sz="1750" spc="150">
                <a:solidFill>
                  <a:srgbClr val="C2C4B5"/>
                </a:solidFill>
                <a:latin typeface="Cambria"/>
                <a:cs typeface="Cambria"/>
              </a:rPr>
              <a:t>Name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-105">
                <a:solidFill>
                  <a:srgbClr val="C2C4B5"/>
                </a:solidFill>
                <a:latin typeface="Cambria"/>
                <a:cs typeface="Cambria"/>
              </a:rPr>
              <a:t>: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35">
                <a:solidFill>
                  <a:srgbClr val="C2C4B5"/>
                </a:solidFill>
                <a:latin typeface="Cambria"/>
                <a:cs typeface="Cambria"/>
              </a:rPr>
              <a:t>Muhammed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Althaf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K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Reg</a:t>
            </a:r>
            <a:r>
              <a:rPr dirty="0" sz="175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14">
                <a:solidFill>
                  <a:srgbClr val="C2C4B5"/>
                </a:solidFill>
                <a:latin typeface="Cambria"/>
                <a:cs typeface="Cambria"/>
              </a:rPr>
              <a:t>NO.</a:t>
            </a:r>
            <a:r>
              <a:rPr dirty="0" sz="175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12205672</a:t>
            </a:r>
            <a:endParaRPr sz="1750">
              <a:latin typeface="Cambria"/>
              <a:cs typeface="Cambria"/>
            </a:endParaRPr>
          </a:p>
          <a:p>
            <a:pPr marL="12700" marR="727075">
              <a:lnSpc>
                <a:spcPts val="2900"/>
              </a:lnSpc>
              <a:spcBef>
                <a:spcPts val="105"/>
              </a:spcBef>
            </a:pP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Section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-105">
                <a:solidFill>
                  <a:srgbClr val="C2C4B5"/>
                </a:solidFill>
                <a:latin typeface="Cambria"/>
                <a:cs typeface="Cambria"/>
              </a:rPr>
              <a:t>: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K22UG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Course</a:t>
            </a:r>
            <a:r>
              <a:rPr dirty="0" sz="175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code: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0">
                <a:solidFill>
                  <a:srgbClr val="C2C4B5"/>
                </a:solidFill>
                <a:latin typeface="Cambria"/>
                <a:cs typeface="Cambria"/>
              </a:rPr>
              <a:t>CSM355</a:t>
            </a:r>
            <a:endParaRPr sz="1750">
              <a:latin typeface="Cambria"/>
              <a:cs typeface="Cambr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779502" y="7627619"/>
            <a:ext cx="1851025" cy="601980"/>
          </a:xfrm>
          <a:custGeom>
            <a:avLst/>
            <a:gdLst/>
            <a:ahLst/>
            <a:cxnLst/>
            <a:rect l="l" t="t" r="r" b="b"/>
            <a:pathLst>
              <a:path w="1851025" h="601979">
                <a:moveTo>
                  <a:pt x="1850898" y="0"/>
                </a:moveTo>
                <a:lnTo>
                  <a:pt x="0" y="0"/>
                </a:lnTo>
                <a:lnTo>
                  <a:pt x="0" y="601979"/>
                </a:lnTo>
                <a:lnTo>
                  <a:pt x="1850898" y="601979"/>
                </a:lnTo>
                <a:lnTo>
                  <a:pt x="1850898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2733" rIns="0" bIns="0" rtlCol="0" vert="horz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180"/>
              <a:t> </a:t>
            </a:r>
            <a:r>
              <a:rPr dirty="0" spc="-10"/>
              <a:t>Overview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1050" y="4929378"/>
            <a:ext cx="3673475" cy="1619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Brand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Processor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Type</a:t>
            </a:r>
            <a:endParaRPr sz="175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</a:tabLst>
            </a:pPr>
            <a:r>
              <a:rPr dirty="0" sz="1750" spc="105">
                <a:solidFill>
                  <a:srgbClr val="C2C4B5"/>
                </a:solidFill>
                <a:latin typeface="Cambria"/>
                <a:cs typeface="Cambria"/>
              </a:rPr>
              <a:t>RAM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Storage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Capacity</a:t>
            </a:r>
            <a:endParaRPr sz="175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</a:tabLst>
            </a:pPr>
            <a:r>
              <a:rPr dirty="0" sz="1750" spc="114">
                <a:solidFill>
                  <a:srgbClr val="C2C4B5"/>
                </a:solidFill>
                <a:latin typeface="Cambria"/>
                <a:cs typeface="Cambria"/>
              </a:rPr>
              <a:t>Screen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Characteristics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10">
                <a:solidFill>
                  <a:srgbClr val="C2C4B5"/>
                </a:solidFill>
                <a:latin typeface="Cambria"/>
                <a:cs typeface="Cambria"/>
              </a:rPr>
              <a:t>GPU</a:t>
            </a:r>
            <a:endParaRPr sz="175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</a:tabLst>
            </a:pP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Operating</a:t>
            </a:r>
            <a:r>
              <a:rPr dirty="0" sz="175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1050" y="2676448"/>
            <a:ext cx="12901295" cy="196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8000"/>
              </a:lnSpc>
              <a:spcBef>
                <a:spcPts val="100"/>
              </a:spcBef>
            </a:pP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In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digital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age,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laptops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are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>
                <a:solidFill>
                  <a:srgbClr val="C2C4B5"/>
                </a:solidFill>
                <a:latin typeface="Cambria"/>
                <a:cs typeface="Cambria"/>
              </a:rPr>
              <a:t>vital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various</a:t>
            </a:r>
            <a:r>
              <a:rPr dirty="0" sz="175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spheres.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Predicting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their</a:t>
            </a:r>
            <a:r>
              <a:rPr dirty="0" sz="175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price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based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on</a:t>
            </a:r>
            <a:r>
              <a:rPr dirty="0" sz="175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specifications</a:t>
            </a:r>
            <a:r>
              <a:rPr dirty="0" sz="175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is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complex</a:t>
            </a:r>
            <a:r>
              <a:rPr dirty="0" sz="175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yet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valuable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task.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project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develops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14">
                <a:solidFill>
                  <a:srgbClr val="C2C4B5"/>
                </a:solidFill>
                <a:latin typeface="Cambria"/>
                <a:cs typeface="Cambria"/>
              </a:rPr>
              <a:t>machine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learning</a:t>
            </a:r>
            <a:r>
              <a:rPr dirty="0" sz="175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estimate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laptop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prices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using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structured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data,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including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features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45">
                <a:solidFill>
                  <a:srgbClr val="C2C4B5"/>
                </a:solidFill>
                <a:latin typeface="Cambria"/>
                <a:cs typeface="Cambria"/>
              </a:rPr>
              <a:t>like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brand,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processor,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RAM,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storage,</a:t>
            </a:r>
            <a:r>
              <a:rPr dirty="0" sz="175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40">
                <a:solidFill>
                  <a:srgbClr val="C2C4B5"/>
                </a:solidFill>
                <a:latin typeface="Cambria"/>
                <a:cs typeface="Cambria"/>
              </a:rPr>
              <a:t>display.</a:t>
            </a:r>
            <a:endParaRPr sz="1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9"/>
              </a:spcBef>
            </a:pPr>
            <a:endParaRPr sz="175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tabLst>
                <a:tab pos="6818630" algn="l"/>
              </a:tabLst>
            </a:pPr>
            <a:r>
              <a:rPr dirty="0" sz="2200" b="1">
                <a:solidFill>
                  <a:srgbClr val="E0E4CD"/>
                </a:solidFill>
                <a:latin typeface="Times New Roman"/>
                <a:cs typeface="Times New Roman"/>
              </a:rPr>
              <a:t>Key </a:t>
            </a:r>
            <a:r>
              <a:rPr dirty="0" sz="2200" spc="-10" b="1">
                <a:solidFill>
                  <a:srgbClr val="E0E4CD"/>
                </a:solidFill>
                <a:latin typeface="Times New Roman"/>
                <a:cs typeface="Times New Roman"/>
              </a:rPr>
              <a:t>Features</a:t>
            </a:r>
            <a:r>
              <a:rPr dirty="0" sz="2200" b="1">
                <a:solidFill>
                  <a:srgbClr val="E0E4CD"/>
                </a:solidFill>
                <a:latin typeface="Times New Roman"/>
                <a:cs typeface="Times New Roman"/>
              </a:rPr>
              <a:t>	Project</a:t>
            </a:r>
            <a:r>
              <a:rPr dirty="0" sz="2200" spc="-110" b="1">
                <a:solidFill>
                  <a:srgbClr val="E0E4CD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E0E4CD"/>
                </a:solidFill>
                <a:latin typeface="Times New Roman"/>
                <a:cs typeface="Times New Roman"/>
              </a:rPr>
              <a:t>Goals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87233" y="4929378"/>
            <a:ext cx="3267075" cy="1619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Develop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predictive</a:t>
            </a:r>
            <a:r>
              <a:rPr dirty="0" sz="175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system</a:t>
            </a:r>
            <a:endParaRPr sz="175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</a:tabLst>
            </a:pP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Estimate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prices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accurately</a:t>
            </a:r>
            <a:endParaRPr sz="175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</a:tabLst>
            </a:pP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Utilise</a:t>
            </a:r>
            <a:r>
              <a:rPr dirty="0" sz="175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structured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endParaRPr sz="175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</a:tabLst>
            </a:pPr>
            <a:r>
              <a:rPr dirty="0" sz="1750" spc="105">
                <a:solidFill>
                  <a:srgbClr val="C2C4B5"/>
                </a:solidFill>
                <a:latin typeface="Cambria"/>
                <a:cs typeface="Cambria"/>
              </a:rPr>
              <a:t>Enhance</a:t>
            </a:r>
            <a:r>
              <a:rPr dirty="0" sz="175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predictive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power</a:t>
            </a:r>
            <a:endParaRPr sz="1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779502" y="7627619"/>
            <a:ext cx="1851025" cy="601980"/>
          </a:xfrm>
          <a:custGeom>
            <a:avLst/>
            <a:gdLst/>
            <a:ahLst/>
            <a:cxnLst/>
            <a:rect l="l" t="t" r="r" b="b"/>
            <a:pathLst>
              <a:path w="1851025" h="601979">
                <a:moveTo>
                  <a:pt x="1850898" y="0"/>
                </a:moveTo>
                <a:lnTo>
                  <a:pt x="0" y="0"/>
                </a:lnTo>
                <a:lnTo>
                  <a:pt x="0" y="601979"/>
                </a:lnTo>
                <a:lnTo>
                  <a:pt x="1850898" y="601979"/>
                </a:lnTo>
                <a:lnTo>
                  <a:pt x="1850898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24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Laptop</a:t>
            </a:r>
            <a:r>
              <a:rPr dirty="0" spc="-70"/>
              <a:t> </a:t>
            </a:r>
            <a:r>
              <a:rPr dirty="0"/>
              <a:t>Price</a:t>
            </a:r>
            <a:r>
              <a:rPr dirty="0" spc="-85"/>
              <a:t> </a:t>
            </a:r>
            <a:r>
              <a:rPr dirty="0" spc="-10"/>
              <a:t>Prediction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24763" y="2885097"/>
            <a:ext cx="12480290" cy="1129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Laptops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are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indispensable,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leading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market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flooded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with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diverse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models.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variation</a:t>
            </a:r>
            <a:r>
              <a:rPr dirty="0" sz="175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creates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pricing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challenges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40">
                <a:solidFill>
                  <a:srgbClr val="C2C4B5"/>
                </a:solidFill>
                <a:latin typeface="Cambria"/>
                <a:cs typeface="Cambria"/>
              </a:rPr>
              <a:t>for </a:t>
            </a:r>
            <a:r>
              <a:rPr dirty="0" sz="1750" spc="105">
                <a:solidFill>
                  <a:srgbClr val="C2C4B5"/>
                </a:solidFill>
                <a:latin typeface="Cambria"/>
                <a:cs typeface="Cambria"/>
              </a:rPr>
              <a:t>consumers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sellers.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0">
                <a:solidFill>
                  <a:srgbClr val="C2C4B5"/>
                </a:solidFill>
                <a:latin typeface="Cambria"/>
                <a:cs typeface="Cambria"/>
              </a:rPr>
              <a:t>Traditionally,</a:t>
            </a:r>
            <a:r>
              <a:rPr dirty="0" sz="1750" spc="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pricing</a:t>
            </a:r>
            <a:r>
              <a:rPr dirty="0" sz="175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relies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on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20">
                <a:solidFill>
                  <a:srgbClr val="C2C4B5"/>
                </a:solidFill>
                <a:latin typeface="Cambria"/>
                <a:cs typeface="Cambria"/>
              </a:rPr>
              <a:t>manual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comparisons,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which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20">
                <a:solidFill>
                  <a:srgbClr val="C2C4B5"/>
                </a:solidFill>
                <a:latin typeface="Cambria"/>
                <a:cs typeface="Cambria"/>
              </a:rPr>
              <a:t>can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be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subjective.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This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project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5">
                <a:solidFill>
                  <a:srgbClr val="C2C4B5"/>
                </a:solidFill>
                <a:latin typeface="Cambria"/>
                <a:cs typeface="Cambria"/>
              </a:rPr>
              <a:t>aims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35">
                <a:solidFill>
                  <a:srgbClr val="C2C4B5"/>
                </a:solidFill>
                <a:latin typeface="Cambria"/>
                <a:cs typeface="Cambria"/>
              </a:rPr>
              <a:t>to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automate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optimise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pricing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through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predictive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modelling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using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14">
                <a:solidFill>
                  <a:srgbClr val="C2C4B5"/>
                </a:solidFill>
                <a:latin typeface="Cambria"/>
                <a:cs typeface="Cambria"/>
              </a:rPr>
              <a:t>machine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learning.</a:t>
            </a:r>
            <a:endParaRPr sz="175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94004" y="5189982"/>
            <a:ext cx="509905" cy="510540"/>
            <a:chOff x="794004" y="5189982"/>
            <a:chExt cx="509905" cy="510540"/>
          </a:xfrm>
        </p:grpSpPr>
        <p:sp>
          <p:nvSpPr>
            <p:cNvPr id="6" name="object 6" descr=""/>
            <p:cNvSpPr/>
            <p:nvPr/>
          </p:nvSpPr>
          <p:spPr>
            <a:xfrm>
              <a:off x="794004" y="5189982"/>
              <a:ext cx="509905" cy="510540"/>
            </a:xfrm>
            <a:custGeom>
              <a:avLst/>
              <a:gdLst/>
              <a:ahLst/>
              <a:cxnLst/>
              <a:rect l="l" t="t" r="r" b="b"/>
              <a:pathLst>
                <a:path w="509905" h="510539">
                  <a:moveTo>
                    <a:pt x="475792" y="0"/>
                  </a:moveTo>
                  <a:lnTo>
                    <a:pt x="33985" y="0"/>
                  </a:lnTo>
                  <a:lnTo>
                    <a:pt x="20756" y="2674"/>
                  </a:lnTo>
                  <a:lnTo>
                    <a:pt x="9953" y="9969"/>
                  </a:lnTo>
                  <a:lnTo>
                    <a:pt x="2670" y="20788"/>
                  </a:lnTo>
                  <a:lnTo>
                    <a:pt x="0" y="34036"/>
                  </a:lnTo>
                  <a:lnTo>
                    <a:pt x="0" y="476504"/>
                  </a:lnTo>
                  <a:lnTo>
                    <a:pt x="2670" y="489751"/>
                  </a:lnTo>
                  <a:lnTo>
                    <a:pt x="9953" y="500570"/>
                  </a:lnTo>
                  <a:lnTo>
                    <a:pt x="20756" y="507865"/>
                  </a:lnTo>
                  <a:lnTo>
                    <a:pt x="33985" y="510540"/>
                  </a:lnTo>
                  <a:lnTo>
                    <a:pt x="475792" y="510540"/>
                  </a:lnTo>
                  <a:lnTo>
                    <a:pt x="489011" y="507865"/>
                  </a:lnTo>
                  <a:lnTo>
                    <a:pt x="499814" y="500570"/>
                  </a:lnTo>
                  <a:lnTo>
                    <a:pt x="507103" y="489751"/>
                  </a:lnTo>
                  <a:lnTo>
                    <a:pt x="509778" y="476504"/>
                  </a:lnTo>
                  <a:lnTo>
                    <a:pt x="509778" y="34036"/>
                  </a:lnTo>
                  <a:lnTo>
                    <a:pt x="507103" y="20788"/>
                  </a:lnTo>
                  <a:lnTo>
                    <a:pt x="499814" y="9969"/>
                  </a:lnTo>
                  <a:lnTo>
                    <a:pt x="489011" y="2674"/>
                  </a:lnTo>
                  <a:lnTo>
                    <a:pt x="475792" y="0"/>
                  </a:lnTo>
                  <a:close/>
                </a:path>
              </a:pathLst>
            </a:custGeom>
            <a:solidFill>
              <a:srgbClr val="3A3B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586" y="5232654"/>
              <a:ext cx="340613" cy="42519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18158" y="5242814"/>
            <a:ext cx="237998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C2C4B5"/>
                </a:solidFill>
                <a:latin typeface="Times New Roman"/>
                <a:cs typeface="Times New Roman"/>
              </a:rPr>
              <a:t>Market </a:t>
            </a:r>
            <a:r>
              <a:rPr dirty="0" sz="2200" spc="-10" b="1">
                <a:solidFill>
                  <a:srgbClr val="C2C4B5"/>
                </a:solidFill>
                <a:latin typeface="Times New Roman"/>
                <a:cs typeface="Times New Roman"/>
              </a:rPr>
              <a:t>Complexity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18158" y="5906566"/>
            <a:ext cx="2885440" cy="1129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100"/>
              </a:spcBef>
            </a:pP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Diverse</a:t>
            </a:r>
            <a:r>
              <a:rPr dirty="0" sz="175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models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and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specifications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25">
                <a:solidFill>
                  <a:srgbClr val="C2C4B5"/>
                </a:solidFill>
                <a:latin typeface="Cambria"/>
                <a:cs typeface="Cambria"/>
              </a:rPr>
              <a:t>make</a:t>
            </a:r>
            <a:r>
              <a:rPr dirty="0" sz="175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pricing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challenging.</a:t>
            </a:r>
            <a:endParaRPr sz="1750">
              <a:latin typeface="Cambria"/>
              <a:cs typeface="Cambri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337047" y="5184647"/>
            <a:ext cx="509905" cy="509905"/>
            <a:chOff x="5337047" y="5184647"/>
            <a:chExt cx="509905" cy="509905"/>
          </a:xfrm>
        </p:grpSpPr>
        <p:sp>
          <p:nvSpPr>
            <p:cNvPr id="11" name="object 11" descr=""/>
            <p:cNvSpPr/>
            <p:nvPr/>
          </p:nvSpPr>
          <p:spPr>
            <a:xfrm>
              <a:off x="5337047" y="5184647"/>
              <a:ext cx="509905" cy="509905"/>
            </a:xfrm>
            <a:custGeom>
              <a:avLst/>
              <a:gdLst/>
              <a:ahLst/>
              <a:cxnLst/>
              <a:rect l="l" t="t" r="r" b="b"/>
              <a:pathLst>
                <a:path w="509904" h="509904">
                  <a:moveTo>
                    <a:pt x="475742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5"/>
                  </a:lnTo>
                  <a:lnTo>
                    <a:pt x="0" y="475741"/>
                  </a:lnTo>
                  <a:lnTo>
                    <a:pt x="2674" y="488989"/>
                  </a:lnTo>
                  <a:lnTo>
                    <a:pt x="9969" y="499808"/>
                  </a:lnTo>
                  <a:lnTo>
                    <a:pt x="20788" y="507103"/>
                  </a:lnTo>
                  <a:lnTo>
                    <a:pt x="34036" y="509777"/>
                  </a:lnTo>
                  <a:lnTo>
                    <a:pt x="475742" y="509777"/>
                  </a:lnTo>
                  <a:lnTo>
                    <a:pt x="488989" y="507103"/>
                  </a:lnTo>
                  <a:lnTo>
                    <a:pt x="499808" y="499808"/>
                  </a:lnTo>
                  <a:lnTo>
                    <a:pt x="507103" y="488989"/>
                  </a:lnTo>
                  <a:lnTo>
                    <a:pt x="509778" y="475741"/>
                  </a:lnTo>
                  <a:lnTo>
                    <a:pt x="509778" y="34035"/>
                  </a:lnTo>
                  <a:lnTo>
                    <a:pt x="507103" y="20788"/>
                  </a:lnTo>
                  <a:lnTo>
                    <a:pt x="499808" y="9969"/>
                  </a:lnTo>
                  <a:lnTo>
                    <a:pt x="488989" y="2674"/>
                  </a:lnTo>
                  <a:lnTo>
                    <a:pt x="475742" y="0"/>
                  </a:lnTo>
                  <a:close/>
                </a:path>
              </a:pathLst>
            </a:custGeom>
            <a:solidFill>
              <a:srgbClr val="3A3B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1629" y="5196077"/>
              <a:ext cx="340613" cy="425195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5960617" y="5206746"/>
            <a:ext cx="230124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C2C4B5"/>
                </a:solidFill>
                <a:latin typeface="Times New Roman"/>
                <a:cs typeface="Times New Roman"/>
              </a:rPr>
              <a:t>Automated</a:t>
            </a:r>
            <a:r>
              <a:rPr dirty="0" sz="2200" spc="-60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2200" spc="-10" b="1">
                <a:solidFill>
                  <a:srgbClr val="C2C4B5"/>
                </a:solidFill>
                <a:latin typeface="Times New Roman"/>
                <a:cs typeface="Times New Roman"/>
              </a:rPr>
              <a:t>Pricing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60617" y="5988608"/>
            <a:ext cx="3324225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100"/>
              </a:spcBef>
            </a:pP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Leveraging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14">
                <a:solidFill>
                  <a:srgbClr val="C2C4B5"/>
                </a:solidFill>
                <a:latin typeface="Cambria"/>
                <a:cs typeface="Cambria"/>
              </a:rPr>
              <a:t>machine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learning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25">
                <a:solidFill>
                  <a:srgbClr val="C2C4B5"/>
                </a:solidFill>
                <a:latin typeface="Cambria"/>
                <a:cs typeface="Cambria"/>
              </a:rPr>
              <a:t>to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optimise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pricing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process.</a:t>
            </a:r>
            <a:endParaRPr sz="1750">
              <a:latin typeface="Cambria"/>
              <a:cs typeface="Cambri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762743" y="5153405"/>
            <a:ext cx="510540" cy="510540"/>
            <a:chOff x="9762743" y="5153405"/>
            <a:chExt cx="510540" cy="510540"/>
          </a:xfrm>
        </p:grpSpPr>
        <p:sp>
          <p:nvSpPr>
            <p:cNvPr id="16" name="object 16" descr=""/>
            <p:cNvSpPr/>
            <p:nvPr/>
          </p:nvSpPr>
          <p:spPr>
            <a:xfrm>
              <a:off x="9762743" y="5153405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76504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476504"/>
                  </a:lnTo>
                  <a:lnTo>
                    <a:pt x="2674" y="489751"/>
                  </a:lnTo>
                  <a:lnTo>
                    <a:pt x="9969" y="500570"/>
                  </a:lnTo>
                  <a:lnTo>
                    <a:pt x="20788" y="507865"/>
                  </a:lnTo>
                  <a:lnTo>
                    <a:pt x="34036" y="510540"/>
                  </a:lnTo>
                  <a:lnTo>
                    <a:pt x="476504" y="510540"/>
                  </a:lnTo>
                  <a:lnTo>
                    <a:pt x="489751" y="507865"/>
                  </a:lnTo>
                  <a:lnTo>
                    <a:pt x="500570" y="500570"/>
                  </a:lnTo>
                  <a:lnTo>
                    <a:pt x="507865" y="489751"/>
                  </a:lnTo>
                  <a:lnTo>
                    <a:pt x="510540" y="476504"/>
                  </a:lnTo>
                  <a:lnTo>
                    <a:pt x="510540" y="34036"/>
                  </a:lnTo>
                  <a:lnTo>
                    <a:pt x="507865" y="20788"/>
                  </a:lnTo>
                  <a:lnTo>
                    <a:pt x="500570" y="9969"/>
                  </a:lnTo>
                  <a:lnTo>
                    <a:pt x="489751" y="2674"/>
                  </a:lnTo>
                  <a:lnTo>
                    <a:pt x="476504" y="0"/>
                  </a:lnTo>
                  <a:close/>
                </a:path>
              </a:pathLst>
            </a:custGeom>
            <a:solidFill>
              <a:srgbClr val="3A3B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48087" y="5184647"/>
              <a:ext cx="339851" cy="42519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0402823" y="5206746"/>
            <a:ext cx="253365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C2C4B5"/>
                </a:solidFill>
                <a:latin typeface="Times New Roman"/>
                <a:cs typeface="Times New Roman"/>
              </a:rPr>
              <a:t>Data-</a:t>
            </a:r>
            <a:r>
              <a:rPr dirty="0" sz="2200" b="1">
                <a:solidFill>
                  <a:srgbClr val="C2C4B5"/>
                </a:solidFill>
                <a:latin typeface="Times New Roman"/>
                <a:cs typeface="Times New Roman"/>
              </a:rPr>
              <a:t>Driven </a:t>
            </a:r>
            <a:r>
              <a:rPr dirty="0" sz="2200" spc="-10" b="1">
                <a:solidFill>
                  <a:srgbClr val="C2C4B5"/>
                </a:solidFill>
                <a:latin typeface="Times New Roman"/>
                <a:cs typeface="Times New Roman"/>
              </a:rPr>
              <a:t>Insights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402823" y="5906566"/>
            <a:ext cx="2849245" cy="1129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100"/>
              </a:spcBef>
            </a:pP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Uncovering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relationships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between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features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price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using</a:t>
            </a:r>
            <a:r>
              <a:rPr dirty="0" sz="175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historical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data.</a:t>
            </a:r>
            <a:endParaRPr sz="1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28788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4887" y="3301238"/>
            <a:ext cx="9250045" cy="6813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300" spc="-10"/>
              <a:t>Literature</a:t>
            </a:r>
            <a:r>
              <a:rPr dirty="0" sz="4300" spc="-85"/>
              <a:t> </a:t>
            </a:r>
            <a:r>
              <a:rPr dirty="0" sz="4300"/>
              <a:t>Review:</a:t>
            </a:r>
            <a:r>
              <a:rPr dirty="0" sz="4300" spc="-55"/>
              <a:t> </a:t>
            </a:r>
            <a:r>
              <a:rPr dirty="0" sz="4300" spc="-25"/>
              <a:t>Predictive</a:t>
            </a:r>
            <a:r>
              <a:rPr dirty="0" sz="4300" spc="-245"/>
              <a:t> </a:t>
            </a:r>
            <a:r>
              <a:rPr dirty="0" sz="4300" spc="-10"/>
              <a:t>Analytics</a:t>
            </a:r>
            <a:endParaRPr sz="4300"/>
          </a:p>
        </p:txBody>
      </p:sp>
      <p:sp>
        <p:nvSpPr>
          <p:cNvPr id="4" name="object 4" descr=""/>
          <p:cNvSpPr txBox="1"/>
          <p:nvPr/>
        </p:nvSpPr>
        <p:spPr>
          <a:xfrm>
            <a:off x="754887" y="4301946"/>
            <a:ext cx="1264475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7200"/>
              </a:lnSpc>
              <a:spcBef>
                <a:spcPts val="100"/>
              </a:spcBef>
            </a:pPr>
            <a:r>
              <a:rPr dirty="0" sz="1700" spc="95">
                <a:solidFill>
                  <a:srgbClr val="C2C4B5"/>
                </a:solidFill>
                <a:latin typeface="Cambria"/>
                <a:cs typeface="Cambria"/>
              </a:rPr>
              <a:t>Machine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C2C4B5"/>
                </a:solidFill>
                <a:latin typeface="Cambria"/>
                <a:cs typeface="Cambria"/>
              </a:rPr>
              <a:t>learning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50">
                <a:solidFill>
                  <a:srgbClr val="C2C4B5"/>
                </a:solidFill>
                <a:latin typeface="Cambria"/>
                <a:cs typeface="Cambria"/>
              </a:rPr>
              <a:t>is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powerful</a:t>
            </a:r>
            <a:r>
              <a:rPr dirty="0" sz="170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tool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in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C2C4B5"/>
                </a:solidFill>
                <a:latin typeface="Cambria"/>
                <a:cs typeface="Cambria"/>
              </a:rPr>
              <a:t>predictive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analytics,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C2C4B5"/>
                </a:solidFill>
                <a:latin typeface="Cambria"/>
                <a:cs typeface="Cambria"/>
              </a:rPr>
              <a:t>especially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structured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C2C4B5"/>
                </a:solidFill>
                <a:latin typeface="Cambria"/>
                <a:cs typeface="Cambria"/>
              </a:rPr>
              <a:t>data.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Price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prediction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C2C4B5"/>
                </a:solidFill>
                <a:latin typeface="Cambria"/>
                <a:cs typeface="Cambria"/>
              </a:rPr>
              <a:t>has</a:t>
            </a:r>
            <a:r>
              <a:rPr dirty="0" sz="170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C2C4B5"/>
                </a:solidFill>
                <a:latin typeface="Cambria"/>
                <a:cs typeface="Cambria"/>
              </a:rPr>
              <a:t>been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explored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C2C4B5"/>
                </a:solidFill>
                <a:latin typeface="Cambria"/>
                <a:cs typeface="Cambria"/>
              </a:rPr>
              <a:t>in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various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C2C4B5"/>
                </a:solidFill>
                <a:latin typeface="Cambria"/>
                <a:cs typeface="Cambria"/>
              </a:rPr>
              <a:t>domains.</a:t>
            </a:r>
            <a:r>
              <a:rPr dirty="0" sz="1700" spc="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C2C4B5"/>
                </a:solidFill>
                <a:latin typeface="Cambria"/>
                <a:cs typeface="Cambria"/>
              </a:rPr>
              <a:t>In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C2C4B5"/>
                </a:solidFill>
                <a:latin typeface="Cambria"/>
                <a:cs typeface="Cambria"/>
              </a:rPr>
              <a:t>electronics,</a:t>
            </a:r>
            <a:r>
              <a:rPr dirty="0" sz="1700" spc="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regression-</a:t>
            </a:r>
            <a:r>
              <a:rPr dirty="0" sz="1700" spc="75">
                <a:solidFill>
                  <a:srgbClr val="C2C4B5"/>
                </a:solidFill>
                <a:latin typeface="Cambria"/>
                <a:cs typeface="Cambria"/>
              </a:rPr>
              <a:t>based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approaches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C2C4B5"/>
                </a:solidFill>
                <a:latin typeface="Cambria"/>
                <a:cs typeface="Cambria"/>
              </a:rPr>
              <a:t>are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125">
                <a:solidFill>
                  <a:srgbClr val="C2C4B5"/>
                </a:solidFill>
                <a:latin typeface="Cambria"/>
                <a:cs typeface="Cambria"/>
              </a:rPr>
              <a:t>common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C2C4B5"/>
                </a:solidFill>
                <a:latin typeface="Cambria"/>
                <a:cs typeface="Cambria"/>
              </a:rPr>
              <a:t>due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5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C2C4B5"/>
                </a:solidFill>
                <a:latin typeface="Cambria"/>
                <a:cs typeface="Cambria"/>
              </a:rPr>
              <a:t>their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50">
                <a:solidFill>
                  <a:srgbClr val="C2C4B5"/>
                </a:solidFill>
                <a:latin typeface="Cambria"/>
                <a:cs typeface="Cambria"/>
              </a:rPr>
              <a:t>interpretability</a:t>
            </a:r>
            <a:r>
              <a:rPr dirty="0" sz="1700" spc="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20">
                <a:solidFill>
                  <a:srgbClr val="C2C4B5"/>
                </a:solidFill>
                <a:latin typeface="Cambria"/>
                <a:cs typeface="Cambria"/>
              </a:rPr>
              <a:t>suitability</a:t>
            </a:r>
            <a:r>
              <a:rPr dirty="0" sz="1700" spc="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35">
                <a:solidFill>
                  <a:srgbClr val="C2C4B5"/>
                </a:solidFill>
                <a:latin typeface="Cambria"/>
                <a:cs typeface="Cambria"/>
              </a:rPr>
              <a:t>for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continuous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output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C2C4B5"/>
                </a:solidFill>
                <a:latin typeface="Cambria"/>
                <a:cs typeface="Cambria"/>
              </a:rPr>
              <a:t>variables.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67333" y="5659373"/>
            <a:ext cx="4219575" cy="1965960"/>
          </a:xfrm>
          <a:custGeom>
            <a:avLst/>
            <a:gdLst/>
            <a:ahLst/>
            <a:cxnLst/>
            <a:rect l="l" t="t" r="r" b="b"/>
            <a:pathLst>
              <a:path w="4219575" h="1965959">
                <a:moveTo>
                  <a:pt x="4186301" y="0"/>
                </a:moveTo>
                <a:lnTo>
                  <a:pt x="32905" y="0"/>
                </a:lnTo>
                <a:lnTo>
                  <a:pt x="20097" y="2585"/>
                </a:lnTo>
                <a:lnTo>
                  <a:pt x="9637" y="9636"/>
                </a:lnTo>
                <a:lnTo>
                  <a:pt x="2585" y="20091"/>
                </a:lnTo>
                <a:lnTo>
                  <a:pt x="0" y="32893"/>
                </a:lnTo>
                <a:lnTo>
                  <a:pt x="0" y="1933054"/>
                </a:lnTo>
                <a:lnTo>
                  <a:pt x="2585" y="1945862"/>
                </a:lnTo>
                <a:lnTo>
                  <a:pt x="9637" y="1956322"/>
                </a:lnTo>
                <a:lnTo>
                  <a:pt x="20097" y="1963374"/>
                </a:lnTo>
                <a:lnTo>
                  <a:pt x="32905" y="1965960"/>
                </a:lnTo>
                <a:lnTo>
                  <a:pt x="4186301" y="1965960"/>
                </a:lnTo>
                <a:lnTo>
                  <a:pt x="4199102" y="1963374"/>
                </a:lnTo>
                <a:lnTo>
                  <a:pt x="4209557" y="1956322"/>
                </a:lnTo>
                <a:lnTo>
                  <a:pt x="4216608" y="1945862"/>
                </a:lnTo>
                <a:lnTo>
                  <a:pt x="4219194" y="1933054"/>
                </a:lnTo>
                <a:lnTo>
                  <a:pt x="4219194" y="32893"/>
                </a:lnTo>
                <a:lnTo>
                  <a:pt x="4216608" y="20091"/>
                </a:lnTo>
                <a:lnTo>
                  <a:pt x="4209557" y="9636"/>
                </a:lnTo>
                <a:lnTo>
                  <a:pt x="4199102" y="2585"/>
                </a:lnTo>
                <a:lnTo>
                  <a:pt x="4186301" y="0"/>
                </a:lnTo>
                <a:close/>
              </a:path>
            </a:pathLst>
          </a:custGeom>
          <a:solidFill>
            <a:srgbClr val="3A3B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74344" y="5851144"/>
            <a:ext cx="3663950" cy="153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b="1">
                <a:solidFill>
                  <a:srgbClr val="C2C4B5"/>
                </a:solidFill>
                <a:latin typeface="Times New Roman"/>
                <a:cs typeface="Times New Roman"/>
              </a:rPr>
              <a:t>Linear</a:t>
            </a:r>
            <a:r>
              <a:rPr dirty="0" sz="2150" spc="-105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C2C4B5"/>
                </a:solidFill>
                <a:latin typeface="Times New Roman"/>
                <a:cs typeface="Times New Roman"/>
              </a:rPr>
              <a:t>Regression</a:t>
            </a:r>
            <a:r>
              <a:rPr dirty="0" sz="2150" spc="-80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2150" spc="-20" b="1">
                <a:solidFill>
                  <a:srgbClr val="C2C4B5"/>
                </a:solidFill>
                <a:latin typeface="Times New Roman"/>
                <a:cs typeface="Times New Roman"/>
              </a:rPr>
              <a:t>(LR)</a:t>
            </a: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37200"/>
              </a:lnSpc>
              <a:spcBef>
                <a:spcPts val="920"/>
              </a:spcBef>
            </a:pP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Widely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used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baseline,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struggles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with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multicollinearity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125">
                <a:solidFill>
                  <a:srgbClr val="C2C4B5"/>
                </a:solidFill>
                <a:latin typeface="Cambria"/>
                <a:cs typeface="Cambria"/>
              </a:rPr>
              <a:t>non-</a:t>
            </a:r>
            <a:r>
              <a:rPr dirty="0" sz="1700" spc="60">
                <a:solidFill>
                  <a:srgbClr val="C2C4B5"/>
                </a:solidFill>
                <a:latin typeface="Cambria"/>
                <a:cs typeface="Cambria"/>
              </a:rPr>
              <a:t>linear </a:t>
            </a:r>
            <a:r>
              <a:rPr dirty="0" sz="1700" spc="45">
                <a:solidFill>
                  <a:srgbClr val="C2C4B5"/>
                </a:solidFill>
                <a:latin typeface="Cambria"/>
                <a:cs typeface="Cambria"/>
              </a:rPr>
              <a:t>relationships.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205984" y="5659373"/>
            <a:ext cx="4218940" cy="1965960"/>
          </a:xfrm>
          <a:custGeom>
            <a:avLst/>
            <a:gdLst/>
            <a:ahLst/>
            <a:cxnLst/>
            <a:rect l="l" t="t" r="r" b="b"/>
            <a:pathLst>
              <a:path w="4218940" h="1965959">
                <a:moveTo>
                  <a:pt x="4185539" y="0"/>
                </a:moveTo>
                <a:lnTo>
                  <a:pt x="32893" y="0"/>
                </a:lnTo>
                <a:lnTo>
                  <a:pt x="20091" y="2585"/>
                </a:lnTo>
                <a:lnTo>
                  <a:pt x="9636" y="9636"/>
                </a:lnTo>
                <a:lnTo>
                  <a:pt x="2585" y="20091"/>
                </a:lnTo>
                <a:lnTo>
                  <a:pt x="0" y="32893"/>
                </a:lnTo>
                <a:lnTo>
                  <a:pt x="0" y="1933041"/>
                </a:lnTo>
                <a:lnTo>
                  <a:pt x="2585" y="1945857"/>
                </a:lnTo>
                <a:lnTo>
                  <a:pt x="9636" y="1956320"/>
                </a:lnTo>
                <a:lnTo>
                  <a:pt x="20091" y="1963373"/>
                </a:lnTo>
                <a:lnTo>
                  <a:pt x="32893" y="1965960"/>
                </a:lnTo>
                <a:lnTo>
                  <a:pt x="4185539" y="1965960"/>
                </a:lnTo>
                <a:lnTo>
                  <a:pt x="4198340" y="1963373"/>
                </a:lnTo>
                <a:lnTo>
                  <a:pt x="4208795" y="1956320"/>
                </a:lnTo>
                <a:lnTo>
                  <a:pt x="4215846" y="1945857"/>
                </a:lnTo>
                <a:lnTo>
                  <a:pt x="4218432" y="1933041"/>
                </a:lnTo>
                <a:lnTo>
                  <a:pt x="4218432" y="32893"/>
                </a:lnTo>
                <a:lnTo>
                  <a:pt x="4215846" y="20091"/>
                </a:lnTo>
                <a:lnTo>
                  <a:pt x="4208795" y="9636"/>
                </a:lnTo>
                <a:lnTo>
                  <a:pt x="4198340" y="2585"/>
                </a:lnTo>
                <a:lnTo>
                  <a:pt x="4185539" y="0"/>
                </a:lnTo>
                <a:close/>
              </a:path>
            </a:pathLst>
          </a:custGeom>
          <a:solidFill>
            <a:srgbClr val="3A3B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412740" y="5851144"/>
            <a:ext cx="3779520" cy="1181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b="1">
                <a:solidFill>
                  <a:srgbClr val="C2C4B5"/>
                </a:solidFill>
                <a:latin typeface="Times New Roman"/>
                <a:cs typeface="Times New Roman"/>
              </a:rPr>
              <a:t>Random</a:t>
            </a:r>
            <a:r>
              <a:rPr dirty="0" sz="2150" spc="-65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C2C4B5"/>
                </a:solidFill>
                <a:latin typeface="Times New Roman"/>
                <a:cs typeface="Times New Roman"/>
              </a:rPr>
              <a:t>Forest</a:t>
            </a:r>
            <a:r>
              <a:rPr dirty="0" sz="2150" spc="-70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2150" spc="-20" b="1">
                <a:solidFill>
                  <a:srgbClr val="C2C4B5"/>
                </a:solidFill>
                <a:latin typeface="Times New Roman"/>
                <a:cs typeface="Times New Roman"/>
              </a:rPr>
              <a:t>(RF)</a:t>
            </a: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15"/>
              </a:spcBef>
            </a:pP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Effective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in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C2C4B5"/>
                </a:solidFill>
                <a:latin typeface="Cambria"/>
                <a:cs typeface="Cambria"/>
              </a:rPr>
              <a:t>capturing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complex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interactions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0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0">
                <a:solidFill>
                  <a:srgbClr val="C2C4B5"/>
                </a:solidFill>
                <a:latin typeface="Cambria"/>
                <a:cs typeface="Cambria"/>
              </a:rPr>
              <a:t>robust</a:t>
            </a:r>
            <a:r>
              <a:rPr dirty="0" sz="1700" spc="-3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5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dirty="0" sz="170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40">
                <a:solidFill>
                  <a:srgbClr val="C2C4B5"/>
                </a:solidFill>
                <a:latin typeface="Cambria"/>
                <a:cs typeface="Cambria"/>
              </a:rPr>
              <a:t>overfitting.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643871" y="5659373"/>
            <a:ext cx="4219575" cy="1965960"/>
          </a:xfrm>
          <a:custGeom>
            <a:avLst/>
            <a:gdLst/>
            <a:ahLst/>
            <a:cxnLst/>
            <a:rect l="l" t="t" r="r" b="b"/>
            <a:pathLst>
              <a:path w="4219575" h="1965959">
                <a:moveTo>
                  <a:pt x="4186301" y="0"/>
                </a:moveTo>
                <a:lnTo>
                  <a:pt x="32893" y="0"/>
                </a:lnTo>
                <a:lnTo>
                  <a:pt x="20091" y="2585"/>
                </a:lnTo>
                <a:lnTo>
                  <a:pt x="9636" y="9636"/>
                </a:lnTo>
                <a:lnTo>
                  <a:pt x="2585" y="20091"/>
                </a:lnTo>
                <a:lnTo>
                  <a:pt x="0" y="32893"/>
                </a:lnTo>
                <a:lnTo>
                  <a:pt x="0" y="1933054"/>
                </a:lnTo>
                <a:lnTo>
                  <a:pt x="2585" y="1945862"/>
                </a:lnTo>
                <a:lnTo>
                  <a:pt x="9636" y="1956322"/>
                </a:lnTo>
                <a:lnTo>
                  <a:pt x="20091" y="1963374"/>
                </a:lnTo>
                <a:lnTo>
                  <a:pt x="32893" y="1965960"/>
                </a:lnTo>
                <a:lnTo>
                  <a:pt x="4186301" y="1965960"/>
                </a:lnTo>
                <a:lnTo>
                  <a:pt x="4199102" y="1963374"/>
                </a:lnTo>
                <a:lnTo>
                  <a:pt x="4209557" y="1956322"/>
                </a:lnTo>
                <a:lnTo>
                  <a:pt x="4216608" y="1945862"/>
                </a:lnTo>
                <a:lnTo>
                  <a:pt x="4219194" y="1933054"/>
                </a:lnTo>
                <a:lnTo>
                  <a:pt x="4219194" y="32893"/>
                </a:lnTo>
                <a:lnTo>
                  <a:pt x="4216608" y="20091"/>
                </a:lnTo>
                <a:lnTo>
                  <a:pt x="4209557" y="9636"/>
                </a:lnTo>
                <a:lnTo>
                  <a:pt x="4199102" y="2585"/>
                </a:lnTo>
                <a:lnTo>
                  <a:pt x="4186301" y="0"/>
                </a:lnTo>
                <a:close/>
              </a:path>
            </a:pathLst>
          </a:custGeom>
          <a:solidFill>
            <a:srgbClr val="3A3B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850881" y="5851144"/>
            <a:ext cx="3460750" cy="1536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20" b="1">
                <a:solidFill>
                  <a:srgbClr val="C2C4B5"/>
                </a:solidFill>
                <a:latin typeface="Times New Roman"/>
                <a:cs typeface="Times New Roman"/>
              </a:rPr>
              <a:t>K-</a:t>
            </a:r>
            <a:r>
              <a:rPr dirty="0" sz="2150" b="1">
                <a:solidFill>
                  <a:srgbClr val="C2C4B5"/>
                </a:solidFill>
                <a:latin typeface="Times New Roman"/>
                <a:cs typeface="Times New Roman"/>
              </a:rPr>
              <a:t>Nearest</a:t>
            </a:r>
            <a:r>
              <a:rPr dirty="0" sz="2150" spc="-75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2150" b="1">
                <a:solidFill>
                  <a:srgbClr val="C2C4B5"/>
                </a:solidFill>
                <a:latin typeface="Times New Roman"/>
                <a:cs typeface="Times New Roman"/>
              </a:rPr>
              <a:t>Neighbors</a:t>
            </a:r>
            <a:r>
              <a:rPr dirty="0" sz="2150" spc="-65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2150" spc="-10" b="1">
                <a:solidFill>
                  <a:srgbClr val="C2C4B5"/>
                </a:solidFill>
                <a:latin typeface="Times New Roman"/>
                <a:cs typeface="Times New Roman"/>
              </a:rPr>
              <a:t>(KNN)</a:t>
            </a: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37200"/>
              </a:lnSpc>
              <a:spcBef>
                <a:spcPts val="920"/>
              </a:spcBef>
            </a:pPr>
            <a:r>
              <a:rPr dirty="0" sz="1700" spc="140">
                <a:solidFill>
                  <a:srgbClr val="C2C4B5"/>
                </a:solidFill>
                <a:latin typeface="Cambria"/>
                <a:cs typeface="Cambria"/>
              </a:rPr>
              <a:t>Non-</a:t>
            </a:r>
            <a:r>
              <a:rPr dirty="0" sz="1700" spc="80">
                <a:solidFill>
                  <a:srgbClr val="C2C4B5"/>
                </a:solidFill>
                <a:latin typeface="Cambria"/>
                <a:cs typeface="Cambria"/>
              </a:rPr>
              <a:t>parametric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C2C4B5"/>
                </a:solidFill>
                <a:latin typeface="Cambria"/>
                <a:cs typeface="Cambria"/>
              </a:rPr>
              <a:t>method,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C2C4B5"/>
                </a:solidFill>
                <a:latin typeface="Cambria"/>
                <a:cs typeface="Cambria"/>
              </a:rPr>
              <a:t>intuitive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but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computationally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C2C4B5"/>
                </a:solidFill>
                <a:latin typeface="Cambria"/>
                <a:cs typeface="Cambria"/>
              </a:rPr>
              <a:t>expensive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C2C4B5"/>
                </a:solidFill>
                <a:latin typeface="Cambria"/>
                <a:cs typeface="Cambria"/>
              </a:rPr>
              <a:t>in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high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dimensions.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2779502" y="7627619"/>
            <a:ext cx="1851025" cy="601980"/>
          </a:xfrm>
          <a:custGeom>
            <a:avLst/>
            <a:gdLst/>
            <a:ahLst/>
            <a:cxnLst/>
            <a:rect l="l" t="t" r="r" b="b"/>
            <a:pathLst>
              <a:path w="1851025" h="601979">
                <a:moveTo>
                  <a:pt x="1850898" y="0"/>
                </a:moveTo>
                <a:lnTo>
                  <a:pt x="0" y="0"/>
                </a:lnTo>
                <a:lnTo>
                  <a:pt x="0" y="601979"/>
                </a:lnTo>
                <a:lnTo>
                  <a:pt x="1850898" y="601979"/>
                </a:lnTo>
                <a:lnTo>
                  <a:pt x="1850898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6072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45097" y="735838"/>
            <a:ext cx="4622165" cy="681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/>
              <a:t>Dataset</a:t>
            </a:r>
            <a:r>
              <a:rPr dirty="0" sz="4300" spc="-140"/>
              <a:t> </a:t>
            </a:r>
            <a:r>
              <a:rPr dirty="0" sz="4300" spc="-10"/>
              <a:t>Description</a:t>
            </a:r>
            <a:endParaRPr sz="4300"/>
          </a:p>
        </p:txBody>
      </p:sp>
      <p:sp>
        <p:nvSpPr>
          <p:cNvPr id="4" name="object 4" descr=""/>
          <p:cNvSpPr txBox="1"/>
          <p:nvPr/>
        </p:nvSpPr>
        <p:spPr>
          <a:xfrm>
            <a:off x="6245097" y="1740865"/>
            <a:ext cx="7134859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7200"/>
              </a:lnSpc>
              <a:spcBef>
                <a:spcPts val="100"/>
              </a:spcBef>
            </a:pPr>
            <a:r>
              <a:rPr dirty="0" sz="1700" spc="60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C2C4B5"/>
                </a:solidFill>
                <a:latin typeface="Cambria"/>
                <a:cs typeface="Cambria"/>
              </a:rPr>
              <a:t>dataset</a:t>
            </a:r>
            <a:r>
              <a:rPr dirty="0" sz="1700" spc="-3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0">
                <a:solidFill>
                  <a:srgbClr val="C2C4B5"/>
                </a:solidFill>
                <a:latin typeface="Cambria"/>
                <a:cs typeface="Cambria"/>
              </a:rPr>
              <a:t>contains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detailed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specifications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of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various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C2C4B5"/>
                </a:solidFill>
                <a:latin typeface="Cambria"/>
                <a:cs typeface="Cambria"/>
              </a:rPr>
              <a:t>laptops,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used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35">
                <a:solidFill>
                  <a:srgbClr val="C2C4B5"/>
                </a:solidFill>
                <a:latin typeface="Cambria"/>
                <a:cs typeface="Cambria"/>
              </a:rPr>
              <a:t>for </a:t>
            </a:r>
            <a:r>
              <a:rPr dirty="0" sz="1700" spc="95">
                <a:solidFill>
                  <a:srgbClr val="C2C4B5"/>
                </a:solidFill>
                <a:latin typeface="Cambria"/>
                <a:cs typeface="Cambria"/>
              </a:rPr>
              <a:t>market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price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C2C4B5"/>
                </a:solidFill>
                <a:latin typeface="Cambria"/>
                <a:cs typeface="Cambria"/>
              </a:rPr>
              <a:t>prediction.</a:t>
            </a:r>
            <a:r>
              <a:rPr dirty="0" sz="17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It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5">
                <a:solidFill>
                  <a:srgbClr val="C2C4B5"/>
                </a:solidFill>
                <a:latin typeface="Cambria"/>
                <a:cs typeface="Cambria"/>
              </a:rPr>
              <a:t>includes</a:t>
            </a:r>
            <a:r>
              <a:rPr dirty="0" sz="17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several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hundred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entries,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each </a:t>
            </a:r>
            <a:r>
              <a:rPr dirty="0" sz="1700" spc="75">
                <a:solidFill>
                  <a:srgbClr val="C2C4B5"/>
                </a:solidFill>
                <a:latin typeface="Cambria"/>
                <a:cs typeface="Cambria"/>
              </a:rPr>
              <a:t>representing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5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unique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C2C4B5"/>
                </a:solidFill>
                <a:latin typeface="Cambria"/>
                <a:cs typeface="Cambria"/>
              </a:rPr>
              <a:t>laptop</a:t>
            </a:r>
            <a:r>
              <a:rPr dirty="0" sz="17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C2C4B5"/>
                </a:solidFill>
                <a:latin typeface="Cambria"/>
                <a:cs typeface="Cambria"/>
              </a:rPr>
              <a:t>model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its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45">
                <a:solidFill>
                  <a:srgbClr val="C2C4B5"/>
                </a:solidFill>
                <a:latin typeface="Cambria"/>
                <a:cs typeface="Cambria"/>
              </a:rPr>
              <a:t>attributes.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7544" y="3104388"/>
            <a:ext cx="550926" cy="55092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245097" y="3847845"/>
            <a:ext cx="2364105" cy="1183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 b="1">
                <a:solidFill>
                  <a:srgbClr val="C2C4B5"/>
                </a:solidFill>
                <a:latin typeface="Times New Roman"/>
                <a:cs typeface="Times New Roman"/>
              </a:rPr>
              <a:t>Company</a:t>
            </a: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30"/>
              </a:spcBef>
            </a:pPr>
            <a:r>
              <a:rPr dirty="0" sz="1700" spc="80">
                <a:solidFill>
                  <a:srgbClr val="C2C4B5"/>
                </a:solidFill>
                <a:latin typeface="Cambria"/>
                <a:cs typeface="Cambria"/>
              </a:rPr>
              <a:t>Brand</a:t>
            </a:r>
            <a:r>
              <a:rPr dirty="0" sz="170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55">
                <a:solidFill>
                  <a:srgbClr val="C2C4B5"/>
                </a:solidFill>
                <a:latin typeface="Cambria"/>
                <a:cs typeface="Cambria"/>
              </a:rPr>
              <a:t>or</a:t>
            </a:r>
            <a:r>
              <a:rPr dirty="0" sz="1700" spc="-4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85">
                <a:solidFill>
                  <a:srgbClr val="C2C4B5"/>
                </a:solidFill>
                <a:latin typeface="Cambria"/>
                <a:cs typeface="Cambria"/>
              </a:rPr>
              <a:t>manufacturer 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(e.g.,</a:t>
            </a:r>
            <a:r>
              <a:rPr dirty="0" sz="1700" spc="4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50">
                <a:solidFill>
                  <a:srgbClr val="C2C4B5"/>
                </a:solidFill>
                <a:latin typeface="Cambria"/>
                <a:cs typeface="Cambria"/>
              </a:rPr>
              <a:t>Dell,</a:t>
            </a:r>
            <a:r>
              <a:rPr dirty="0" sz="1700" spc="4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HP).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83395" y="3104388"/>
            <a:ext cx="550164" cy="55092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870950" y="3847845"/>
            <a:ext cx="2045335" cy="1183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 b="1">
                <a:solidFill>
                  <a:srgbClr val="C2C4B5"/>
                </a:solidFill>
                <a:latin typeface="Times New Roman"/>
                <a:cs typeface="Times New Roman"/>
              </a:rPr>
              <a:t>TypeName</a:t>
            </a: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30"/>
              </a:spcBef>
            </a:pPr>
            <a:r>
              <a:rPr dirty="0" sz="1700" spc="80">
                <a:solidFill>
                  <a:srgbClr val="C2C4B5"/>
                </a:solidFill>
                <a:latin typeface="Cambria"/>
                <a:cs typeface="Cambria"/>
              </a:rPr>
              <a:t>Category</a:t>
            </a:r>
            <a:r>
              <a:rPr dirty="0" sz="1700" spc="-4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(e.g.,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Ultrabook,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70">
                <a:solidFill>
                  <a:srgbClr val="C2C4B5"/>
                </a:solidFill>
                <a:latin typeface="Cambria"/>
                <a:cs typeface="Cambria"/>
              </a:rPr>
              <a:t>Gaming).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08485" y="3104388"/>
            <a:ext cx="550926" cy="55092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1496547" y="3847845"/>
            <a:ext cx="1638935" cy="1183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25" b="1">
                <a:solidFill>
                  <a:srgbClr val="C2C4B5"/>
                </a:solidFill>
                <a:latin typeface="Times New Roman"/>
                <a:cs typeface="Times New Roman"/>
              </a:rPr>
              <a:t>RAM</a:t>
            </a:r>
            <a:endParaRPr sz="2150">
              <a:latin typeface="Times New Roman"/>
              <a:cs typeface="Times New Roman"/>
            </a:endParaRPr>
          </a:p>
          <a:p>
            <a:pPr marL="12700" marR="5080">
              <a:lnSpc>
                <a:spcPct val="137400"/>
              </a:lnSpc>
              <a:spcBef>
                <a:spcPts val="930"/>
              </a:spcBef>
            </a:pPr>
            <a:r>
              <a:rPr dirty="0" sz="1700" spc="100">
                <a:solidFill>
                  <a:srgbClr val="C2C4B5"/>
                </a:solidFill>
                <a:latin typeface="Cambria"/>
                <a:cs typeface="Cambria"/>
              </a:rPr>
              <a:t>Random</a:t>
            </a:r>
            <a:r>
              <a:rPr dirty="0" sz="1700" spc="-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90">
                <a:solidFill>
                  <a:srgbClr val="C2C4B5"/>
                </a:solidFill>
                <a:latin typeface="Cambria"/>
                <a:cs typeface="Cambria"/>
              </a:rPr>
              <a:t>Access Memory</a:t>
            </a:r>
            <a:r>
              <a:rPr dirty="0" sz="17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(in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 GB).</a:t>
            </a:r>
            <a:endParaRPr sz="17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57544" y="5849111"/>
            <a:ext cx="550926" cy="550926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245097" y="6593078"/>
            <a:ext cx="2299335" cy="8274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0" b="1">
                <a:solidFill>
                  <a:srgbClr val="C2C4B5"/>
                </a:solidFill>
                <a:latin typeface="Times New Roman"/>
                <a:cs typeface="Times New Roman"/>
              </a:rPr>
              <a:t>Weight</a:t>
            </a: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Physical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65">
                <a:solidFill>
                  <a:srgbClr val="C2C4B5"/>
                </a:solidFill>
                <a:latin typeface="Cambria"/>
                <a:cs typeface="Cambria"/>
              </a:rPr>
              <a:t>weight</a:t>
            </a:r>
            <a:r>
              <a:rPr dirty="0" sz="17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>
                <a:solidFill>
                  <a:srgbClr val="C2C4B5"/>
                </a:solidFill>
                <a:latin typeface="Cambria"/>
                <a:cs typeface="Cambria"/>
              </a:rPr>
              <a:t>(in</a:t>
            </a:r>
            <a:r>
              <a:rPr dirty="0" sz="17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00" spc="-20">
                <a:solidFill>
                  <a:srgbClr val="C2C4B5"/>
                </a:solidFill>
                <a:latin typeface="Cambria"/>
                <a:cs typeface="Cambria"/>
              </a:rPr>
              <a:t>kg).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2779502" y="7627619"/>
            <a:ext cx="1851025" cy="601980"/>
          </a:xfrm>
          <a:custGeom>
            <a:avLst/>
            <a:gdLst/>
            <a:ahLst/>
            <a:cxnLst/>
            <a:rect l="l" t="t" r="r" b="b"/>
            <a:pathLst>
              <a:path w="1851025" h="601979">
                <a:moveTo>
                  <a:pt x="1850898" y="0"/>
                </a:moveTo>
                <a:lnTo>
                  <a:pt x="0" y="0"/>
                </a:lnTo>
                <a:lnTo>
                  <a:pt x="0" y="601979"/>
                </a:lnTo>
                <a:lnTo>
                  <a:pt x="1850898" y="601979"/>
                </a:lnTo>
                <a:lnTo>
                  <a:pt x="1850898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2779502" y="7627619"/>
            <a:ext cx="1851025" cy="601980"/>
          </a:xfrm>
          <a:custGeom>
            <a:avLst/>
            <a:gdLst/>
            <a:ahLst/>
            <a:cxnLst/>
            <a:rect l="l" t="t" r="r" b="b"/>
            <a:pathLst>
              <a:path w="1851025" h="601979">
                <a:moveTo>
                  <a:pt x="1850898" y="0"/>
                </a:moveTo>
                <a:lnTo>
                  <a:pt x="0" y="0"/>
                </a:lnTo>
                <a:lnTo>
                  <a:pt x="0" y="601979"/>
                </a:lnTo>
                <a:lnTo>
                  <a:pt x="1850898" y="601979"/>
                </a:lnTo>
                <a:lnTo>
                  <a:pt x="1850898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0173" y="464311"/>
            <a:ext cx="49618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Data</a:t>
            </a:r>
            <a:r>
              <a:rPr dirty="0" sz="3600" spc="-150"/>
              <a:t> </a:t>
            </a:r>
            <a:r>
              <a:rPr dirty="0" sz="3600"/>
              <a:t>Preprocessing</a:t>
            </a:r>
            <a:r>
              <a:rPr dirty="0" sz="3600" spc="-145"/>
              <a:t> </a:t>
            </a:r>
            <a:r>
              <a:rPr dirty="0" sz="3600" spc="-10"/>
              <a:t>Steps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630173" y="1396948"/>
            <a:ext cx="12442825" cy="609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800"/>
              </a:lnSpc>
              <a:spcBef>
                <a:spcPts val="100"/>
              </a:spcBef>
            </a:pP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To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ensure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accurate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laptop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price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prediction,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several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preprocessing</a:t>
            </a:r>
            <a:r>
              <a:rPr dirty="0" sz="1400" spc="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steps</a:t>
            </a:r>
            <a:r>
              <a:rPr dirty="0" sz="1400" spc="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were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performed.</a:t>
            </a:r>
            <a:r>
              <a:rPr dirty="0" sz="1400" spc="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These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steps</a:t>
            </a:r>
            <a:r>
              <a:rPr dirty="0" sz="1400" spc="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included</a:t>
            </a:r>
            <a:r>
              <a:rPr dirty="0" sz="14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cleaning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4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converting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data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types,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engineering</a:t>
            </a:r>
            <a:r>
              <a:rPr dirty="0" sz="1400" spc="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new</a:t>
            </a:r>
            <a:r>
              <a:rPr dirty="0" sz="14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features,</a:t>
            </a:r>
            <a:r>
              <a:rPr dirty="0" sz="1400" spc="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breaking</a:t>
            </a:r>
            <a:r>
              <a:rPr dirty="0" sz="1400" spc="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down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storage</a:t>
            </a:r>
            <a:r>
              <a:rPr dirty="0" sz="1400" spc="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features,</a:t>
            </a:r>
            <a:r>
              <a:rPr dirty="0" sz="1400" spc="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handling</a:t>
            </a:r>
            <a:r>
              <a:rPr dirty="0" sz="1400" spc="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categorical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20">
                <a:solidFill>
                  <a:srgbClr val="C2C4B5"/>
                </a:solidFill>
                <a:latin typeface="Cambria"/>
                <a:cs typeface="Cambria"/>
              </a:rPr>
              <a:t>variables,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4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0">
                <a:solidFill>
                  <a:srgbClr val="C2C4B5"/>
                </a:solidFill>
                <a:latin typeface="Cambria"/>
                <a:cs typeface="Cambria"/>
              </a:rPr>
              <a:t>reducing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redundant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40">
                <a:solidFill>
                  <a:srgbClr val="C2C4B5"/>
                </a:solidFill>
                <a:latin typeface="Cambria"/>
                <a:cs typeface="Cambria"/>
              </a:rPr>
              <a:t>features.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580631" y="2240279"/>
            <a:ext cx="1469390" cy="5484495"/>
            <a:chOff x="6580631" y="2240279"/>
            <a:chExt cx="1469390" cy="5484495"/>
          </a:xfrm>
        </p:grpSpPr>
        <p:sp>
          <p:nvSpPr>
            <p:cNvPr id="6" name="object 6" descr=""/>
            <p:cNvSpPr/>
            <p:nvPr/>
          </p:nvSpPr>
          <p:spPr>
            <a:xfrm>
              <a:off x="6580619" y="2240279"/>
              <a:ext cx="746125" cy="5484495"/>
            </a:xfrm>
            <a:custGeom>
              <a:avLst/>
              <a:gdLst/>
              <a:ahLst/>
              <a:cxnLst/>
              <a:rect l="l" t="t" r="r" b="b"/>
              <a:pathLst>
                <a:path w="746125" h="5484495">
                  <a:moveTo>
                    <a:pt x="550938" y="200152"/>
                  </a:moveTo>
                  <a:lnTo>
                    <a:pt x="545858" y="195072"/>
                  </a:lnTo>
                  <a:lnTo>
                    <a:pt x="5080" y="195072"/>
                  </a:lnTo>
                  <a:lnTo>
                    <a:pt x="0" y="200152"/>
                  </a:lnTo>
                  <a:lnTo>
                    <a:pt x="0" y="206502"/>
                  </a:lnTo>
                  <a:lnTo>
                    <a:pt x="0" y="212852"/>
                  </a:lnTo>
                  <a:lnTo>
                    <a:pt x="5080" y="217932"/>
                  </a:lnTo>
                  <a:lnTo>
                    <a:pt x="545858" y="217932"/>
                  </a:lnTo>
                  <a:lnTo>
                    <a:pt x="550938" y="212852"/>
                  </a:lnTo>
                  <a:lnTo>
                    <a:pt x="550938" y="200152"/>
                  </a:lnTo>
                  <a:close/>
                </a:path>
                <a:path w="746125" h="5484495">
                  <a:moveTo>
                    <a:pt x="746010" y="5080"/>
                  </a:moveTo>
                  <a:lnTo>
                    <a:pt x="740930" y="0"/>
                  </a:lnTo>
                  <a:lnTo>
                    <a:pt x="728230" y="0"/>
                  </a:lnTo>
                  <a:lnTo>
                    <a:pt x="723150" y="5080"/>
                  </a:lnTo>
                  <a:lnTo>
                    <a:pt x="723150" y="11430"/>
                  </a:lnTo>
                  <a:lnTo>
                    <a:pt x="723150" y="5478996"/>
                  </a:lnTo>
                  <a:lnTo>
                    <a:pt x="728230" y="5484114"/>
                  </a:lnTo>
                  <a:lnTo>
                    <a:pt x="740930" y="5484114"/>
                  </a:lnTo>
                  <a:lnTo>
                    <a:pt x="746010" y="5478996"/>
                  </a:lnTo>
                  <a:lnTo>
                    <a:pt x="746010" y="5080"/>
                  </a:lnTo>
                  <a:close/>
                </a:path>
              </a:pathLst>
            </a:custGeom>
            <a:solidFill>
              <a:srgbClr val="535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108697" y="2240279"/>
              <a:ext cx="413384" cy="414020"/>
            </a:xfrm>
            <a:custGeom>
              <a:avLst/>
              <a:gdLst/>
              <a:ahLst/>
              <a:cxnLst/>
              <a:rect l="l" t="t" r="r" b="b"/>
              <a:pathLst>
                <a:path w="413384" h="414019">
                  <a:moveTo>
                    <a:pt x="385445" y="0"/>
                  </a:moveTo>
                  <a:lnTo>
                    <a:pt x="27559" y="0"/>
                  </a:lnTo>
                  <a:lnTo>
                    <a:pt x="16823" y="2162"/>
                  </a:lnTo>
                  <a:lnTo>
                    <a:pt x="8064" y="8064"/>
                  </a:lnTo>
                  <a:lnTo>
                    <a:pt x="2162" y="16823"/>
                  </a:lnTo>
                  <a:lnTo>
                    <a:pt x="0" y="27559"/>
                  </a:lnTo>
                  <a:lnTo>
                    <a:pt x="0" y="386207"/>
                  </a:lnTo>
                  <a:lnTo>
                    <a:pt x="2162" y="396942"/>
                  </a:lnTo>
                  <a:lnTo>
                    <a:pt x="8064" y="405701"/>
                  </a:lnTo>
                  <a:lnTo>
                    <a:pt x="16823" y="411603"/>
                  </a:lnTo>
                  <a:lnTo>
                    <a:pt x="27559" y="413766"/>
                  </a:lnTo>
                  <a:lnTo>
                    <a:pt x="385445" y="413766"/>
                  </a:lnTo>
                  <a:lnTo>
                    <a:pt x="396180" y="411603"/>
                  </a:lnTo>
                  <a:lnTo>
                    <a:pt x="404939" y="405701"/>
                  </a:lnTo>
                  <a:lnTo>
                    <a:pt x="410841" y="396942"/>
                  </a:lnTo>
                  <a:lnTo>
                    <a:pt x="413004" y="386207"/>
                  </a:lnTo>
                  <a:lnTo>
                    <a:pt x="413004" y="27559"/>
                  </a:lnTo>
                  <a:lnTo>
                    <a:pt x="410841" y="16823"/>
                  </a:lnTo>
                  <a:lnTo>
                    <a:pt x="404939" y="8064"/>
                  </a:lnTo>
                  <a:lnTo>
                    <a:pt x="396180" y="2162"/>
                  </a:lnTo>
                  <a:lnTo>
                    <a:pt x="385445" y="0"/>
                  </a:lnTo>
                  <a:close/>
                </a:path>
              </a:pathLst>
            </a:custGeom>
            <a:solidFill>
              <a:srgbClr val="3A3B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7277" y="2274569"/>
              <a:ext cx="275844" cy="34442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498841" y="3537965"/>
              <a:ext cx="551180" cy="22860"/>
            </a:xfrm>
            <a:custGeom>
              <a:avLst/>
              <a:gdLst/>
              <a:ahLst/>
              <a:cxnLst/>
              <a:rect l="l" t="t" r="r" b="b"/>
              <a:pathLst>
                <a:path w="551179" h="22860">
                  <a:moveTo>
                    <a:pt x="545846" y="0"/>
                  </a:moveTo>
                  <a:lnTo>
                    <a:pt x="5080" y="0"/>
                  </a:lnTo>
                  <a:lnTo>
                    <a:pt x="0" y="5079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080" y="22859"/>
                  </a:lnTo>
                  <a:lnTo>
                    <a:pt x="545846" y="22859"/>
                  </a:lnTo>
                  <a:lnTo>
                    <a:pt x="550926" y="17779"/>
                  </a:lnTo>
                  <a:lnTo>
                    <a:pt x="550926" y="5079"/>
                  </a:lnTo>
                  <a:lnTo>
                    <a:pt x="545846" y="0"/>
                  </a:lnTo>
                  <a:close/>
                </a:path>
              </a:pathLst>
            </a:custGeom>
            <a:solidFill>
              <a:srgbClr val="535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108697" y="3342131"/>
              <a:ext cx="413384" cy="414020"/>
            </a:xfrm>
            <a:custGeom>
              <a:avLst/>
              <a:gdLst/>
              <a:ahLst/>
              <a:cxnLst/>
              <a:rect l="l" t="t" r="r" b="b"/>
              <a:pathLst>
                <a:path w="413384" h="414020">
                  <a:moveTo>
                    <a:pt x="385445" y="0"/>
                  </a:moveTo>
                  <a:lnTo>
                    <a:pt x="27559" y="0"/>
                  </a:lnTo>
                  <a:lnTo>
                    <a:pt x="16823" y="2162"/>
                  </a:lnTo>
                  <a:lnTo>
                    <a:pt x="8064" y="8064"/>
                  </a:lnTo>
                  <a:lnTo>
                    <a:pt x="2162" y="16823"/>
                  </a:lnTo>
                  <a:lnTo>
                    <a:pt x="0" y="27559"/>
                  </a:lnTo>
                  <a:lnTo>
                    <a:pt x="0" y="386207"/>
                  </a:lnTo>
                  <a:lnTo>
                    <a:pt x="2162" y="396942"/>
                  </a:lnTo>
                  <a:lnTo>
                    <a:pt x="8064" y="405701"/>
                  </a:lnTo>
                  <a:lnTo>
                    <a:pt x="16823" y="411603"/>
                  </a:lnTo>
                  <a:lnTo>
                    <a:pt x="27559" y="413766"/>
                  </a:lnTo>
                  <a:lnTo>
                    <a:pt x="385445" y="413766"/>
                  </a:lnTo>
                  <a:lnTo>
                    <a:pt x="396180" y="411603"/>
                  </a:lnTo>
                  <a:lnTo>
                    <a:pt x="404939" y="405701"/>
                  </a:lnTo>
                  <a:lnTo>
                    <a:pt x="410841" y="396942"/>
                  </a:lnTo>
                  <a:lnTo>
                    <a:pt x="413004" y="386207"/>
                  </a:lnTo>
                  <a:lnTo>
                    <a:pt x="413004" y="27559"/>
                  </a:lnTo>
                  <a:lnTo>
                    <a:pt x="410841" y="16823"/>
                  </a:lnTo>
                  <a:lnTo>
                    <a:pt x="404939" y="8064"/>
                  </a:lnTo>
                  <a:lnTo>
                    <a:pt x="396180" y="2162"/>
                  </a:lnTo>
                  <a:lnTo>
                    <a:pt x="385445" y="0"/>
                  </a:lnTo>
                  <a:close/>
                </a:path>
              </a:pathLst>
            </a:custGeom>
            <a:solidFill>
              <a:srgbClr val="3A3B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7277" y="3377183"/>
              <a:ext cx="275844" cy="34366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580631" y="4487417"/>
              <a:ext cx="551180" cy="22860"/>
            </a:xfrm>
            <a:custGeom>
              <a:avLst/>
              <a:gdLst/>
              <a:ahLst/>
              <a:cxnLst/>
              <a:rect l="l" t="t" r="r" b="b"/>
              <a:pathLst>
                <a:path w="551179" h="22860">
                  <a:moveTo>
                    <a:pt x="545846" y="0"/>
                  </a:moveTo>
                  <a:lnTo>
                    <a:pt x="5080" y="0"/>
                  </a:lnTo>
                  <a:lnTo>
                    <a:pt x="0" y="5079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080" y="22859"/>
                  </a:lnTo>
                  <a:lnTo>
                    <a:pt x="545846" y="22859"/>
                  </a:lnTo>
                  <a:lnTo>
                    <a:pt x="550926" y="17779"/>
                  </a:lnTo>
                  <a:lnTo>
                    <a:pt x="550926" y="5079"/>
                  </a:lnTo>
                  <a:lnTo>
                    <a:pt x="545846" y="0"/>
                  </a:lnTo>
                  <a:close/>
                </a:path>
              </a:pathLst>
            </a:custGeom>
            <a:solidFill>
              <a:srgbClr val="535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108697" y="4292345"/>
              <a:ext cx="413384" cy="413384"/>
            </a:xfrm>
            <a:custGeom>
              <a:avLst/>
              <a:gdLst/>
              <a:ahLst/>
              <a:cxnLst/>
              <a:rect l="l" t="t" r="r" b="b"/>
              <a:pathLst>
                <a:path w="413384" h="413385">
                  <a:moveTo>
                    <a:pt x="385445" y="0"/>
                  </a:moveTo>
                  <a:lnTo>
                    <a:pt x="27559" y="0"/>
                  </a:lnTo>
                  <a:lnTo>
                    <a:pt x="16823" y="2162"/>
                  </a:lnTo>
                  <a:lnTo>
                    <a:pt x="8064" y="8064"/>
                  </a:lnTo>
                  <a:lnTo>
                    <a:pt x="2162" y="16823"/>
                  </a:lnTo>
                  <a:lnTo>
                    <a:pt x="0" y="27559"/>
                  </a:lnTo>
                  <a:lnTo>
                    <a:pt x="0" y="385445"/>
                  </a:lnTo>
                  <a:lnTo>
                    <a:pt x="2162" y="396180"/>
                  </a:lnTo>
                  <a:lnTo>
                    <a:pt x="8064" y="404939"/>
                  </a:lnTo>
                  <a:lnTo>
                    <a:pt x="16823" y="410841"/>
                  </a:lnTo>
                  <a:lnTo>
                    <a:pt x="27559" y="413004"/>
                  </a:lnTo>
                  <a:lnTo>
                    <a:pt x="385445" y="413004"/>
                  </a:lnTo>
                  <a:lnTo>
                    <a:pt x="396180" y="410841"/>
                  </a:lnTo>
                  <a:lnTo>
                    <a:pt x="404939" y="404939"/>
                  </a:lnTo>
                  <a:lnTo>
                    <a:pt x="410841" y="396180"/>
                  </a:lnTo>
                  <a:lnTo>
                    <a:pt x="413004" y="385445"/>
                  </a:lnTo>
                  <a:lnTo>
                    <a:pt x="413004" y="27559"/>
                  </a:lnTo>
                  <a:lnTo>
                    <a:pt x="410841" y="16823"/>
                  </a:lnTo>
                  <a:lnTo>
                    <a:pt x="404939" y="8064"/>
                  </a:lnTo>
                  <a:lnTo>
                    <a:pt x="396180" y="2162"/>
                  </a:lnTo>
                  <a:lnTo>
                    <a:pt x="385445" y="0"/>
                  </a:lnTo>
                  <a:close/>
                </a:path>
              </a:pathLst>
            </a:custGeom>
            <a:solidFill>
              <a:srgbClr val="3A3B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7277" y="4326635"/>
              <a:ext cx="275844" cy="344424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7498841" y="5436869"/>
              <a:ext cx="551180" cy="22860"/>
            </a:xfrm>
            <a:custGeom>
              <a:avLst/>
              <a:gdLst/>
              <a:ahLst/>
              <a:cxnLst/>
              <a:rect l="l" t="t" r="r" b="b"/>
              <a:pathLst>
                <a:path w="551179" h="22860">
                  <a:moveTo>
                    <a:pt x="545846" y="0"/>
                  </a:moveTo>
                  <a:lnTo>
                    <a:pt x="5080" y="0"/>
                  </a:lnTo>
                  <a:lnTo>
                    <a:pt x="0" y="5079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080" y="22859"/>
                  </a:lnTo>
                  <a:lnTo>
                    <a:pt x="545846" y="22859"/>
                  </a:lnTo>
                  <a:lnTo>
                    <a:pt x="550926" y="17779"/>
                  </a:lnTo>
                  <a:lnTo>
                    <a:pt x="550926" y="5079"/>
                  </a:lnTo>
                  <a:lnTo>
                    <a:pt x="545846" y="0"/>
                  </a:lnTo>
                  <a:close/>
                </a:path>
              </a:pathLst>
            </a:custGeom>
            <a:solidFill>
              <a:srgbClr val="535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108697" y="5241797"/>
              <a:ext cx="413384" cy="414020"/>
            </a:xfrm>
            <a:custGeom>
              <a:avLst/>
              <a:gdLst/>
              <a:ahLst/>
              <a:cxnLst/>
              <a:rect l="l" t="t" r="r" b="b"/>
              <a:pathLst>
                <a:path w="413384" h="414020">
                  <a:moveTo>
                    <a:pt x="385445" y="0"/>
                  </a:moveTo>
                  <a:lnTo>
                    <a:pt x="27559" y="0"/>
                  </a:lnTo>
                  <a:lnTo>
                    <a:pt x="16823" y="2162"/>
                  </a:lnTo>
                  <a:lnTo>
                    <a:pt x="8064" y="8064"/>
                  </a:lnTo>
                  <a:lnTo>
                    <a:pt x="2162" y="16823"/>
                  </a:lnTo>
                  <a:lnTo>
                    <a:pt x="0" y="27558"/>
                  </a:lnTo>
                  <a:lnTo>
                    <a:pt x="0" y="386206"/>
                  </a:lnTo>
                  <a:lnTo>
                    <a:pt x="2162" y="396942"/>
                  </a:lnTo>
                  <a:lnTo>
                    <a:pt x="8064" y="405701"/>
                  </a:lnTo>
                  <a:lnTo>
                    <a:pt x="16823" y="411603"/>
                  </a:lnTo>
                  <a:lnTo>
                    <a:pt x="27559" y="413765"/>
                  </a:lnTo>
                  <a:lnTo>
                    <a:pt x="385445" y="413765"/>
                  </a:lnTo>
                  <a:lnTo>
                    <a:pt x="396180" y="411603"/>
                  </a:lnTo>
                  <a:lnTo>
                    <a:pt x="404939" y="405701"/>
                  </a:lnTo>
                  <a:lnTo>
                    <a:pt x="410841" y="396942"/>
                  </a:lnTo>
                  <a:lnTo>
                    <a:pt x="413004" y="386206"/>
                  </a:lnTo>
                  <a:lnTo>
                    <a:pt x="413004" y="27558"/>
                  </a:lnTo>
                  <a:lnTo>
                    <a:pt x="410841" y="16823"/>
                  </a:lnTo>
                  <a:lnTo>
                    <a:pt x="404939" y="8064"/>
                  </a:lnTo>
                  <a:lnTo>
                    <a:pt x="396180" y="2162"/>
                  </a:lnTo>
                  <a:lnTo>
                    <a:pt x="385445" y="0"/>
                  </a:lnTo>
                  <a:close/>
                </a:path>
              </a:pathLst>
            </a:custGeom>
            <a:solidFill>
              <a:srgbClr val="3A3B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7277" y="5276850"/>
              <a:ext cx="275844" cy="34366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6580631" y="6387083"/>
              <a:ext cx="551180" cy="22860"/>
            </a:xfrm>
            <a:custGeom>
              <a:avLst/>
              <a:gdLst/>
              <a:ahLst/>
              <a:cxnLst/>
              <a:rect l="l" t="t" r="r" b="b"/>
              <a:pathLst>
                <a:path w="551179" h="22860">
                  <a:moveTo>
                    <a:pt x="545846" y="0"/>
                  </a:moveTo>
                  <a:lnTo>
                    <a:pt x="5080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780"/>
                  </a:lnTo>
                  <a:lnTo>
                    <a:pt x="5080" y="22860"/>
                  </a:lnTo>
                  <a:lnTo>
                    <a:pt x="545846" y="22860"/>
                  </a:lnTo>
                  <a:lnTo>
                    <a:pt x="550926" y="17780"/>
                  </a:lnTo>
                  <a:lnTo>
                    <a:pt x="550926" y="5080"/>
                  </a:lnTo>
                  <a:lnTo>
                    <a:pt x="545846" y="0"/>
                  </a:lnTo>
                  <a:close/>
                </a:path>
              </a:pathLst>
            </a:custGeom>
            <a:solidFill>
              <a:srgbClr val="535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108697" y="6192011"/>
              <a:ext cx="413384" cy="413384"/>
            </a:xfrm>
            <a:custGeom>
              <a:avLst/>
              <a:gdLst/>
              <a:ahLst/>
              <a:cxnLst/>
              <a:rect l="l" t="t" r="r" b="b"/>
              <a:pathLst>
                <a:path w="413384" h="413384">
                  <a:moveTo>
                    <a:pt x="385445" y="0"/>
                  </a:moveTo>
                  <a:lnTo>
                    <a:pt x="27559" y="0"/>
                  </a:lnTo>
                  <a:lnTo>
                    <a:pt x="16823" y="2162"/>
                  </a:lnTo>
                  <a:lnTo>
                    <a:pt x="8064" y="8064"/>
                  </a:lnTo>
                  <a:lnTo>
                    <a:pt x="2162" y="16823"/>
                  </a:lnTo>
                  <a:lnTo>
                    <a:pt x="0" y="27558"/>
                  </a:lnTo>
                  <a:lnTo>
                    <a:pt x="0" y="385444"/>
                  </a:lnTo>
                  <a:lnTo>
                    <a:pt x="2162" y="396180"/>
                  </a:lnTo>
                  <a:lnTo>
                    <a:pt x="8064" y="404939"/>
                  </a:lnTo>
                  <a:lnTo>
                    <a:pt x="16823" y="410841"/>
                  </a:lnTo>
                  <a:lnTo>
                    <a:pt x="27559" y="413003"/>
                  </a:lnTo>
                  <a:lnTo>
                    <a:pt x="385445" y="413003"/>
                  </a:lnTo>
                  <a:lnTo>
                    <a:pt x="396180" y="410841"/>
                  </a:lnTo>
                  <a:lnTo>
                    <a:pt x="404939" y="404939"/>
                  </a:lnTo>
                  <a:lnTo>
                    <a:pt x="410841" y="396180"/>
                  </a:lnTo>
                  <a:lnTo>
                    <a:pt x="413004" y="385444"/>
                  </a:lnTo>
                  <a:lnTo>
                    <a:pt x="413004" y="27558"/>
                  </a:lnTo>
                  <a:lnTo>
                    <a:pt x="410841" y="16823"/>
                  </a:lnTo>
                  <a:lnTo>
                    <a:pt x="404939" y="8064"/>
                  </a:lnTo>
                  <a:lnTo>
                    <a:pt x="396180" y="2162"/>
                  </a:lnTo>
                  <a:lnTo>
                    <a:pt x="385445" y="0"/>
                  </a:lnTo>
                  <a:close/>
                </a:path>
              </a:pathLst>
            </a:custGeom>
            <a:solidFill>
              <a:srgbClr val="3A3B3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7277" y="6226301"/>
              <a:ext cx="275844" cy="344424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652272" y="2281935"/>
            <a:ext cx="5758180" cy="1270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8041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C4B5"/>
                </a:solidFill>
                <a:latin typeface="Times New Roman"/>
                <a:cs typeface="Times New Roman"/>
              </a:rPr>
              <a:t>Cleaning</a:t>
            </a:r>
            <a:r>
              <a:rPr dirty="0" sz="1800" spc="-5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C2C4B5"/>
                </a:solidFill>
                <a:latin typeface="Times New Roman"/>
                <a:cs typeface="Times New Roman"/>
              </a:rPr>
              <a:t>and</a:t>
            </a:r>
            <a:r>
              <a:rPr dirty="0" sz="1800" spc="-10" b="1">
                <a:solidFill>
                  <a:srgbClr val="C2C4B5"/>
                </a:solidFill>
                <a:latin typeface="Times New Roman"/>
                <a:cs typeface="Times New Roman"/>
              </a:rPr>
              <a:t> Converting</a:t>
            </a:r>
            <a:endParaRPr sz="1800">
              <a:latin typeface="Times New Roman"/>
              <a:cs typeface="Times New Roman"/>
            </a:endParaRPr>
          </a:p>
          <a:p>
            <a:pPr algn="r" marL="1261110" marR="6350" indent="-1249045">
              <a:lnSpc>
                <a:spcPct val="136800"/>
              </a:lnSpc>
              <a:spcBef>
                <a:spcPts val="750"/>
              </a:spcBef>
            </a:pP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Stripped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units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5">
                <a:solidFill>
                  <a:srgbClr val="C2C4B5"/>
                </a:solidFill>
                <a:latin typeface="Cambria"/>
                <a:cs typeface="Cambria"/>
              </a:rPr>
              <a:t>from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'Ram'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4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'Weight',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converted</a:t>
            </a:r>
            <a:r>
              <a:rPr dirty="0" sz="14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to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5">
                <a:solidFill>
                  <a:srgbClr val="C2C4B5"/>
                </a:solidFill>
                <a:latin typeface="Cambria"/>
                <a:cs typeface="Cambria"/>
              </a:rPr>
              <a:t>numerical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types.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Extracted</a:t>
            </a:r>
            <a:r>
              <a:rPr dirty="0" sz="1400" spc="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features</a:t>
            </a:r>
            <a:r>
              <a:rPr dirty="0" sz="1400" spc="3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like</a:t>
            </a:r>
            <a:r>
              <a:rPr dirty="0" sz="1400" spc="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Touchscreen,</a:t>
            </a:r>
            <a:r>
              <a:rPr dirty="0" sz="1400" spc="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IPS,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PPI</a:t>
            </a:r>
            <a:r>
              <a:rPr dirty="0" sz="1400" spc="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from</a:t>
            </a:r>
            <a:endParaRPr sz="1400">
              <a:latin typeface="Cambria"/>
              <a:cs typeface="Cambria"/>
            </a:endParaRPr>
          </a:p>
          <a:p>
            <a:pPr algn="r" marR="5715">
              <a:lnSpc>
                <a:spcPct val="100000"/>
              </a:lnSpc>
              <a:spcBef>
                <a:spcPts val="615"/>
              </a:spcBef>
            </a:pPr>
            <a:r>
              <a:rPr dirty="0" sz="1400" spc="40">
                <a:solidFill>
                  <a:srgbClr val="C2C4B5"/>
                </a:solidFill>
                <a:latin typeface="Cambria"/>
                <a:cs typeface="Cambria"/>
              </a:rPr>
              <a:t>'ScreenResolution'.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220964" y="3384041"/>
            <a:ext cx="5726430" cy="9791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C4B5"/>
                </a:solidFill>
                <a:latin typeface="Times New Roman"/>
                <a:cs typeface="Times New Roman"/>
              </a:rPr>
              <a:t>Feature</a:t>
            </a:r>
            <a:r>
              <a:rPr dirty="0" sz="1800" spc="-95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C2C4B5"/>
                </a:solidFill>
                <a:latin typeface="Times New Roman"/>
                <a:cs typeface="Times New Roman"/>
              </a:rPr>
              <a:t>Engineering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36800"/>
              </a:lnSpc>
              <a:spcBef>
                <a:spcPts val="750"/>
              </a:spcBef>
            </a:pP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Created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binary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features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Touchscreen</a:t>
            </a:r>
            <a:r>
              <a:rPr dirty="0" sz="14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5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IPS.</a:t>
            </a:r>
            <a:r>
              <a:rPr dirty="0" sz="14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5">
                <a:solidFill>
                  <a:srgbClr val="C2C4B5"/>
                </a:solidFill>
                <a:latin typeface="Cambria"/>
                <a:cs typeface="Cambria"/>
              </a:rPr>
              <a:t>Computed</a:t>
            </a:r>
            <a:r>
              <a:rPr dirty="0" sz="14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PPI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from </a:t>
            </a:r>
            <a:r>
              <a:rPr dirty="0" sz="1400" spc="70">
                <a:solidFill>
                  <a:srgbClr val="C2C4B5"/>
                </a:solidFill>
                <a:latin typeface="Cambria"/>
                <a:cs typeface="Cambria"/>
              </a:rPr>
              <a:t>screen</a:t>
            </a:r>
            <a:r>
              <a:rPr dirty="0" sz="1400" spc="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resolution</a:t>
            </a:r>
            <a:r>
              <a:rPr dirty="0" sz="1400" spc="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size.</a:t>
            </a:r>
            <a:r>
              <a:rPr dirty="0" sz="1400" spc="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Parsed</a:t>
            </a:r>
            <a:r>
              <a:rPr dirty="0" sz="1400" spc="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90">
                <a:solidFill>
                  <a:srgbClr val="C2C4B5"/>
                </a:solidFill>
                <a:latin typeface="Cambria"/>
                <a:cs typeface="Cambria"/>
              </a:rPr>
              <a:t>CPU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descriptions</a:t>
            </a:r>
            <a:r>
              <a:rPr dirty="0" sz="1400" spc="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into</a:t>
            </a:r>
            <a:r>
              <a:rPr dirty="0" sz="1400" spc="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45">
                <a:solidFill>
                  <a:srgbClr val="C2C4B5"/>
                </a:solidFill>
                <a:latin typeface="Cambria"/>
                <a:cs typeface="Cambria"/>
              </a:rPr>
              <a:t>categories.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74775" y="4334002"/>
            <a:ext cx="5535295" cy="978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8902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C4B5"/>
                </a:solidFill>
                <a:latin typeface="Times New Roman"/>
                <a:cs typeface="Times New Roman"/>
              </a:rPr>
              <a:t>Storage</a:t>
            </a:r>
            <a:r>
              <a:rPr dirty="0" sz="1800" spc="-60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C2C4B5"/>
                </a:solidFill>
                <a:latin typeface="Times New Roman"/>
                <a:cs typeface="Times New Roman"/>
              </a:rPr>
              <a:t>Breakdown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Split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5">
                <a:solidFill>
                  <a:srgbClr val="C2C4B5"/>
                </a:solidFill>
                <a:latin typeface="Cambria"/>
                <a:cs typeface="Cambria"/>
              </a:rPr>
              <a:t>combined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'Memory'</a:t>
            </a:r>
            <a:r>
              <a:rPr dirty="0" sz="1400" spc="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85">
                <a:solidFill>
                  <a:srgbClr val="C2C4B5"/>
                </a:solidFill>
                <a:latin typeface="Cambria"/>
                <a:cs typeface="Cambria"/>
              </a:rPr>
              <a:t>column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 into</a:t>
            </a:r>
            <a:r>
              <a:rPr dirty="0" sz="1400" spc="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separate</a:t>
            </a:r>
            <a:r>
              <a:rPr dirty="0" sz="1400" spc="3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5">
                <a:solidFill>
                  <a:srgbClr val="C2C4B5"/>
                </a:solidFill>
                <a:latin typeface="Cambria"/>
                <a:cs typeface="Cambria"/>
              </a:rPr>
              <a:t>numerical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0">
                <a:solidFill>
                  <a:srgbClr val="C2C4B5"/>
                </a:solidFill>
                <a:latin typeface="Cambria"/>
                <a:cs typeface="Cambria"/>
              </a:rPr>
              <a:t>columns</a:t>
            </a:r>
            <a:endParaRPr sz="1400">
              <a:latin typeface="Cambria"/>
              <a:cs typeface="Cambria"/>
            </a:endParaRPr>
          </a:p>
          <a:p>
            <a:pPr algn="r" marR="5715">
              <a:lnSpc>
                <a:spcPct val="100000"/>
              </a:lnSpc>
              <a:spcBef>
                <a:spcPts val="615"/>
              </a:spcBef>
            </a:pP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dirty="0" sz="14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90">
                <a:solidFill>
                  <a:srgbClr val="C2C4B5"/>
                </a:solidFill>
                <a:latin typeface="Cambria"/>
                <a:cs typeface="Cambria"/>
              </a:rPr>
              <a:t>HDD</a:t>
            </a:r>
            <a:r>
              <a:rPr dirty="0" sz="1400" spc="-4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4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SSD.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220964" y="5283961"/>
            <a:ext cx="5746115" cy="978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C4B5"/>
                </a:solidFill>
                <a:latin typeface="Times New Roman"/>
                <a:cs typeface="Times New Roman"/>
              </a:rPr>
              <a:t>Categorical</a:t>
            </a:r>
            <a:r>
              <a:rPr dirty="0" sz="1800" spc="-90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C2C4B5"/>
                </a:solidFill>
                <a:latin typeface="Times New Roman"/>
                <a:cs typeface="Times New Roman"/>
              </a:rPr>
              <a:t>Handling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36800"/>
              </a:lnSpc>
              <a:spcBef>
                <a:spcPts val="745"/>
              </a:spcBef>
            </a:pPr>
            <a:r>
              <a:rPr dirty="0" sz="1400" spc="70">
                <a:solidFill>
                  <a:srgbClr val="C2C4B5"/>
                </a:solidFill>
                <a:latin typeface="Cambria"/>
                <a:cs typeface="Cambria"/>
              </a:rPr>
              <a:t>Encoded</a:t>
            </a:r>
            <a:r>
              <a:rPr dirty="0" sz="14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categorical</a:t>
            </a:r>
            <a:r>
              <a:rPr dirty="0" sz="14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features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(Company,</a:t>
            </a:r>
            <a:r>
              <a:rPr dirty="0" sz="14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TypeName,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90">
                <a:solidFill>
                  <a:srgbClr val="C2C4B5"/>
                </a:solidFill>
                <a:latin typeface="Cambria"/>
                <a:cs typeface="Cambria"/>
              </a:rPr>
              <a:t>CPU</a:t>
            </a:r>
            <a:r>
              <a:rPr dirty="0" sz="14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brand,</a:t>
            </a:r>
            <a:r>
              <a:rPr dirty="0" sz="140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0">
                <a:solidFill>
                  <a:srgbClr val="C2C4B5"/>
                </a:solidFill>
                <a:latin typeface="Cambria"/>
                <a:cs typeface="Cambria"/>
              </a:rPr>
              <a:t>GPU,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OS)</a:t>
            </a:r>
            <a:r>
              <a:rPr dirty="0" sz="1400" spc="-4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using</a:t>
            </a:r>
            <a:r>
              <a:rPr dirty="0" sz="140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114">
                <a:solidFill>
                  <a:srgbClr val="C2C4B5"/>
                </a:solidFill>
                <a:latin typeface="Cambria"/>
                <a:cs typeface="Cambria"/>
              </a:rPr>
              <a:t>One-</a:t>
            </a:r>
            <a:r>
              <a:rPr dirty="0" sz="1400" spc="75">
                <a:solidFill>
                  <a:srgbClr val="C2C4B5"/>
                </a:solidFill>
                <a:latin typeface="Cambria"/>
                <a:cs typeface="Cambria"/>
              </a:rPr>
              <a:t>Hot</a:t>
            </a:r>
            <a:r>
              <a:rPr dirty="0" sz="140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5">
                <a:solidFill>
                  <a:srgbClr val="C2C4B5"/>
                </a:solidFill>
                <a:latin typeface="Cambria"/>
                <a:cs typeface="Cambria"/>
              </a:rPr>
              <a:t>Encoding.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10183" y="6233921"/>
            <a:ext cx="5699760" cy="978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2C4B5"/>
                </a:solidFill>
                <a:latin typeface="Times New Roman"/>
                <a:cs typeface="Times New Roman"/>
              </a:rPr>
              <a:t>Feature</a:t>
            </a:r>
            <a:r>
              <a:rPr dirty="0" sz="1800" spc="-95" b="1">
                <a:solidFill>
                  <a:srgbClr val="C2C4B5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C2C4B5"/>
                </a:solidFill>
                <a:latin typeface="Times New Roman"/>
                <a:cs typeface="Times New Roman"/>
              </a:rPr>
              <a:t>Reduction</a:t>
            </a:r>
            <a:endParaRPr sz="1800">
              <a:latin typeface="Times New Roman"/>
              <a:cs typeface="Times New Roman"/>
            </a:endParaRPr>
          </a:p>
          <a:p>
            <a:pPr algn="r" marR="6350">
              <a:lnSpc>
                <a:spcPct val="100000"/>
              </a:lnSpc>
              <a:spcBef>
                <a:spcPts val="1365"/>
              </a:spcBef>
            </a:pP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Dropped</a:t>
            </a:r>
            <a:r>
              <a:rPr dirty="0" sz="1400" spc="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redundant</a:t>
            </a:r>
            <a:r>
              <a:rPr dirty="0" sz="1400" spc="3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80">
                <a:solidFill>
                  <a:srgbClr val="C2C4B5"/>
                </a:solidFill>
                <a:latin typeface="Cambria"/>
                <a:cs typeface="Cambria"/>
              </a:rPr>
              <a:t>columns</a:t>
            </a:r>
            <a:r>
              <a:rPr dirty="0" sz="1400" spc="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>
                <a:solidFill>
                  <a:srgbClr val="C2C4B5"/>
                </a:solidFill>
                <a:latin typeface="Cambria"/>
                <a:cs typeface="Cambria"/>
              </a:rPr>
              <a:t>like</a:t>
            </a:r>
            <a:r>
              <a:rPr dirty="0" sz="1400" spc="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0">
                <a:solidFill>
                  <a:srgbClr val="C2C4B5"/>
                </a:solidFill>
                <a:latin typeface="Cambria"/>
                <a:cs typeface="Cambria"/>
              </a:rPr>
              <a:t>ScreenResolution,</a:t>
            </a:r>
            <a:r>
              <a:rPr dirty="0" sz="1400" spc="4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65">
                <a:solidFill>
                  <a:srgbClr val="C2C4B5"/>
                </a:solidFill>
                <a:latin typeface="Cambria"/>
                <a:cs typeface="Cambria"/>
              </a:rPr>
              <a:t>Inches,</a:t>
            </a:r>
            <a:r>
              <a:rPr dirty="0" sz="1400" spc="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70">
                <a:solidFill>
                  <a:srgbClr val="C2C4B5"/>
                </a:solidFill>
                <a:latin typeface="Cambria"/>
                <a:cs typeface="Cambria"/>
              </a:rPr>
              <a:t>Cpu,</a:t>
            </a:r>
            <a:r>
              <a:rPr dirty="0" sz="1400" spc="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4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endParaRPr sz="140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  <a:spcBef>
                <a:spcPts val="615"/>
              </a:spcBef>
            </a:pPr>
            <a:r>
              <a:rPr dirty="0" sz="1400" spc="85">
                <a:solidFill>
                  <a:srgbClr val="C2C4B5"/>
                </a:solidFill>
                <a:latin typeface="Cambria"/>
                <a:cs typeface="Cambria"/>
              </a:rPr>
              <a:t>Cpu</a:t>
            </a:r>
            <a:r>
              <a:rPr dirty="0" sz="1400" spc="-3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110">
                <a:solidFill>
                  <a:srgbClr val="C2C4B5"/>
                </a:solidFill>
                <a:latin typeface="Cambria"/>
                <a:cs typeface="Cambria"/>
              </a:rPr>
              <a:t>Name</a:t>
            </a:r>
            <a:r>
              <a:rPr dirty="0" sz="140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50">
                <a:solidFill>
                  <a:srgbClr val="C2C4B5"/>
                </a:solidFill>
                <a:latin typeface="Cambria"/>
                <a:cs typeface="Cambria"/>
              </a:rPr>
              <a:t>after</a:t>
            </a:r>
            <a:r>
              <a:rPr dirty="0" sz="140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400" spc="45">
                <a:solidFill>
                  <a:srgbClr val="C2C4B5"/>
                </a:solidFill>
                <a:latin typeface="Cambria"/>
                <a:cs typeface="Cambria"/>
              </a:rPr>
              <a:t>extraction.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6072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46038" y="748792"/>
            <a:ext cx="6135370" cy="119380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4700"/>
              </a:lnSpc>
            </a:pPr>
            <a:r>
              <a:rPr dirty="0" sz="3750" spc="-10"/>
              <a:t>Methodology:</a:t>
            </a:r>
            <a:r>
              <a:rPr dirty="0" sz="3750" spc="-215"/>
              <a:t> </a:t>
            </a:r>
            <a:r>
              <a:rPr dirty="0" sz="3750"/>
              <a:t>Algorithms</a:t>
            </a:r>
            <a:r>
              <a:rPr dirty="0" sz="3750" spc="15"/>
              <a:t> </a:t>
            </a:r>
            <a:r>
              <a:rPr dirty="0" sz="3750" spc="-25"/>
              <a:t>and </a:t>
            </a:r>
            <a:r>
              <a:rPr dirty="0" sz="3750" spc="-10"/>
              <a:t>Evaluation</a:t>
            </a:r>
            <a:endParaRPr sz="375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8484" y="3722370"/>
            <a:ext cx="960119" cy="371779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30480">
              <a:lnSpc>
                <a:spcPct val="133400"/>
              </a:lnSpc>
              <a:spcBef>
                <a:spcPts val="95"/>
              </a:spcBef>
            </a:pPr>
            <a:r>
              <a:rPr dirty="0"/>
              <a:t>To</a:t>
            </a:r>
            <a:r>
              <a:rPr dirty="0" spc="5"/>
              <a:t> </a:t>
            </a:r>
            <a:r>
              <a:rPr dirty="0" spc="55"/>
              <a:t>predict</a:t>
            </a:r>
            <a:r>
              <a:rPr dirty="0" spc="10"/>
              <a:t> </a:t>
            </a:r>
            <a:r>
              <a:rPr dirty="0"/>
              <a:t>laptop</a:t>
            </a:r>
            <a:r>
              <a:rPr dirty="0" spc="20"/>
              <a:t> </a:t>
            </a:r>
            <a:r>
              <a:rPr dirty="0" spc="55"/>
              <a:t>prices,</a:t>
            </a:r>
            <a:r>
              <a:rPr dirty="0" spc="20"/>
              <a:t> </a:t>
            </a:r>
            <a:r>
              <a:rPr dirty="0" spc="60"/>
              <a:t>three</a:t>
            </a:r>
            <a:r>
              <a:rPr dirty="0" spc="5"/>
              <a:t> </a:t>
            </a:r>
            <a:r>
              <a:rPr dirty="0" spc="95"/>
              <a:t>machine</a:t>
            </a:r>
            <a:r>
              <a:rPr dirty="0" spc="5"/>
              <a:t> </a:t>
            </a:r>
            <a:r>
              <a:rPr dirty="0" spc="65"/>
              <a:t>learning</a:t>
            </a:r>
            <a:r>
              <a:rPr dirty="0" spc="20"/>
              <a:t> </a:t>
            </a:r>
            <a:r>
              <a:rPr dirty="0" spc="65"/>
              <a:t>algorithms</a:t>
            </a:r>
            <a:r>
              <a:rPr dirty="0" spc="-10"/>
              <a:t> </a:t>
            </a:r>
            <a:r>
              <a:rPr dirty="0" spc="55"/>
              <a:t>were</a:t>
            </a:r>
            <a:r>
              <a:rPr dirty="0" spc="5"/>
              <a:t> </a:t>
            </a:r>
            <a:r>
              <a:rPr dirty="0" spc="70"/>
              <a:t>used</a:t>
            </a:r>
            <a:r>
              <a:rPr dirty="0" spc="5"/>
              <a:t> </a:t>
            </a:r>
            <a:r>
              <a:rPr dirty="0" spc="80"/>
              <a:t>and</a:t>
            </a:r>
            <a:r>
              <a:rPr dirty="0" spc="10"/>
              <a:t> </a:t>
            </a:r>
            <a:r>
              <a:rPr dirty="0" spc="45"/>
              <a:t>compared: </a:t>
            </a:r>
            <a:r>
              <a:rPr dirty="0" spc="60"/>
              <a:t>Linear</a:t>
            </a:r>
            <a:r>
              <a:rPr dirty="0" spc="35"/>
              <a:t> </a:t>
            </a:r>
            <a:r>
              <a:rPr dirty="0" spc="65"/>
              <a:t>Regression</a:t>
            </a:r>
            <a:r>
              <a:rPr dirty="0" spc="10"/>
              <a:t> </a:t>
            </a:r>
            <a:r>
              <a:rPr dirty="0"/>
              <a:t>with</a:t>
            </a:r>
            <a:r>
              <a:rPr dirty="0" spc="25"/>
              <a:t> </a:t>
            </a:r>
            <a:r>
              <a:rPr dirty="0" spc="55"/>
              <a:t>Lasso</a:t>
            </a:r>
            <a:r>
              <a:rPr dirty="0" spc="15"/>
              <a:t> </a:t>
            </a:r>
            <a:r>
              <a:rPr dirty="0" spc="55"/>
              <a:t>Regularization,</a:t>
            </a:r>
            <a:r>
              <a:rPr dirty="0" spc="30"/>
              <a:t> </a:t>
            </a:r>
            <a:r>
              <a:rPr dirty="0" spc="145"/>
              <a:t>K-</a:t>
            </a:r>
            <a:r>
              <a:rPr dirty="0" spc="70"/>
              <a:t>Nearest</a:t>
            </a:r>
            <a:r>
              <a:rPr dirty="0" spc="20"/>
              <a:t> </a:t>
            </a:r>
            <a:r>
              <a:rPr dirty="0" spc="70"/>
              <a:t>Neighbors</a:t>
            </a:r>
            <a:r>
              <a:rPr dirty="0" spc="15"/>
              <a:t> </a:t>
            </a:r>
            <a:r>
              <a:rPr dirty="0"/>
              <a:t>(KNN)</a:t>
            </a:r>
            <a:r>
              <a:rPr dirty="0" spc="30"/>
              <a:t> </a:t>
            </a:r>
            <a:r>
              <a:rPr dirty="0" spc="45"/>
              <a:t>Regressor, </a:t>
            </a:r>
            <a:r>
              <a:rPr dirty="0" spc="80"/>
              <a:t>and</a:t>
            </a:r>
            <a:r>
              <a:rPr dirty="0" spc="-5"/>
              <a:t> </a:t>
            </a:r>
            <a:r>
              <a:rPr dirty="0" spc="90"/>
              <a:t>Random</a:t>
            </a:r>
            <a:r>
              <a:rPr dirty="0" spc="-20"/>
              <a:t> </a:t>
            </a:r>
            <a:r>
              <a:rPr dirty="0" spc="55"/>
              <a:t>Forest</a:t>
            </a:r>
            <a:r>
              <a:rPr dirty="0" spc="-15"/>
              <a:t> </a:t>
            </a:r>
            <a:r>
              <a:rPr dirty="0" spc="55"/>
              <a:t>Regressor.</a:t>
            </a:r>
            <a:r>
              <a:rPr dirty="0" spc="-35"/>
              <a:t> </a:t>
            </a:r>
            <a:r>
              <a:rPr dirty="0" spc="55"/>
              <a:t>The</a:t>
            </a:r>
            <a:r>
              <a:rPr dirty="0" spc="-5"/>
              <a:t> </a:t>
            </a:r>
            <a:r>
              <a:rPr dirty="0" spc="55"/>
              <a:t>dataset</a:t>
            </a:r>
            <a:r>
              <a:rPr dirty="0" spc="-20"/>
              <a:t> </a:t>
            </a:r>
            <a:r>
              <a:rPr dirty="0" spc="55"/>
              <a:t>was</a:t>
            </a:r>
            <a:r>
              <a:rPr dirty="0" spc="-5"/>
              <a:t> </a:t>
            </a:r>
            <a:r>
              <a:rPr dirty="0"/>
              <a:t>split</a:t>
            </a:r>
            <a:r>
              <a:rPr dirty="0" spc="-10"/>
              <a:t> </a:t>
            </a:r>
            <a:r>
              <a:rPr dirty="0" spc="55"/>
              <a:t>into</a:t>
            </a:r>
            <a:r>
              <a:rPr dirty="0" spc="-20"/>
              <a:t> </a:t>
            </a:r>
            <a:r>
              <a:rPr dirty="0" spc="65"/>
              <a:t>training</a:t>
            </a:r>
            <a:r>
              <a:rPr dirty="0" spc="-15"/>
              <a:t> </a:t>
            </a:r>
            <a:r>
              <a:rPr dirty="0" spc="80"/>
              <a:t>and</a:t>
            </a:r>
            <a:r>
              <a:rPr dirty="0"/>
              <a:t> </a:t>
            </a:r>
            <a:r>
              <a:rPr dirty="0" spc="60"/>
              <a:t>testing</a:t>
            </a:r>
            <a:r>
              <a:rPr dirty="0" spc="-35"/>
              <a:t> </a:t>
            </a:r>
            <a:r>
              <a:rPr dirty="0" spc="55"/>
              <a:t>sets</a:t>
            </a:r>
            <a:r>
              <a:rPr dirty="0" spc="-25"/>
              <a:t> </a:t>
            </a:r>
            <a:r>
              <a:rPr dirty="0" spc="30"/>
              <a:t>for </a:t>
            </a:r>
            <a:r>
              <a:rPr dirty="0" spc="70"/>
              <a:t>unbiased</a:t>
            </a:r>
            <a:r>
              <a:rPr dirty="0" spc="-50"/>
              <a:t> </a:t>
            </a:r>
            <a:r>
              <a:rPr dirty="0" spc="45"/>
              <a:t>evaluation.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20"/>
              </a:spcBef>
            </a:pPr>
          </a:p>
          <a:p>
            <a:pPr marL="1260475">
              <a:lnSpc>
                <a:spcPct val="100000"/>
              </a:lnSpc>
            </a:pPr>
            <a:r>
              <a:rPr dirty="0" sz="1850" b="1">
                <a:latin typeface="Times New Roman"/>
                <a:cs typeface="Times New Roman"/>
              </a:rPr>
              <a:t>Linear</a:t>
            </a:r>
            <a:r>
              <a:rPr dirty="0" sz="1850" spc="-9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Regression</a:t>
            </a:r>
            <a:r>
              <a:rPr dirty="0" sz="1850" spc="-45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with</a:t>
            </a:r>
            <a:r>
              <a:rPr dirty="0" sz="1850" spc="-6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Lasso</a:t>
            </a:r>
            <a:endParaRPr sz="1850">
              <a:latin typeface="Times New Roman"/>
              <a:cs typeface="Times New Roman"/>
            </a:endParaRPr>
          </a:p>
          <a:p>
            <a:pPr marL="1260475" marR="41910">
              <a:lnSpc>
                <a:spcPct val="133300"/>
              </a:lnSpc>
              <a:spcBef>
                <a:spcPts val="800"/>
              </a:spcBef>
            </a:pPr>
            <a:r>
              <a:rPr dirty="0" spc="60"/>
              <a:t>Linear</a:t>
            </a:r>
            <a:r>
              <a:rPr dirty="0" spc="5"/>
              <a:t> </a:t>
            </a:r>
            <a:r>
              <a:rPr dirty="0" spc="75"/>
              <a:t>model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-5"/>
              <a:t> </a:t>
            </a:r>
            <a:r>
              <a:rPr dirty="0" spc="-105"/>
              <a:t>L1</a:t>
            </a:r>
            <a:r>
              <a:rPr dirty="0"/>
              <a:t> </a:t>
            </a:r>
            <a:r>
              <a:rPr dirty="0" spc="55"/>
              <a:t>regularization</a:t>
            </a:r>
            <a:r>
              <a:rPr dirty="0"/>
              <a:t> </a:t>
            </a:r>
            <a:r>
              <a:rPr dirty="0" spc="55"/>
              <a:t>for</a:t>
            </a:r>
            <a:r>
              <a:rPr dirty="0"/>
              <a:t> </a:t>
            </a:r>
            <a:r>
              <a:rPr dirty="0" spc="65"/>
              <a:t>feature</a:t>
            </a:r>
            <a:r>
              <a:rPr dirty="0"/>
              <a:t> </a:t>
            </a:r>
            <a:r>
              <a:rPr dirty="0" spc="60"/>
              <a:t>selection</a:t>
            </a:r>
            <a:r>
              <a:rPr dirty="0"/>
              <a:t> </a:t>
            </a:r>
            <a:r>
              <a:rPr dirty="0" spc="80"/>
              <a:t>and</a:t>
            </a:r>
            <a:r>
              <a:rPr dirty="0" spc="5"/>
              <a:t> </a:t>
            </a:r>
            <a:r>
              <a:rPr dirty="0" spc="45"/>
              <a:t>overfitting prevention.</a:t>
            </a:r>
          </a:p>
          <a:p>
            <a:pPr>
              <a:lnSpc>
                <a:spcPct val="100000"/>
              </a:lnSpc>
              <a:spcBef>
                <a:spcPts val="1550"/>
              </a:spcBef>
            </a:pPr>
          </a:p>
          <a:p>
            <a:pPr marL="1260475">
              <a:lnSpc>
                <a:spcPct val="100000"/>
              </a:lnSpc>
              <a:spcBef>
                <a:spcPts val="5"/>
              </a:spcBef>
            </a:pPr>
            <a:r>
              <a:rPr dirty="0" sz="1850" spc="-10" b="1">
                <a:latin typeface="Times New Roman"/>
                <a:cs typeface="Times New Roman"/>
              </a:rPr>
              <a:t>K-</a:t>
            </a:r>
            <a:r>
              <a:rPr dirty="0" sz="1850" b="1">
                <a:latin typeface="Times New Roman"/>
                <a:cs typeface="Times New Roman"/>
              </a:rPr>
              <a:t>Nearest</a:t>
            </a:r>
            <a:r>
              <a:rPr dirty="0" sz="1850" spc="-10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Neighbors</a:t>
            </a:r>
            <a:r>
              <a:rPr dirty="0" sz="1850" spc="-9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(KNN)</a:t>
            </a:r>
            <a:endParaRPr sz="1850">
              <a:latin typeface="Times New Roman"/>
              <a:cs typeface="Times New Roman"/>
            </a:endParaRPr>
          </a:p>
          <a:p>
            <a:pPr marL="1260475">
              <a:lnSpc>
                <a:spcPct val="100000"/>
              </a:lnSpc>
              <a:spcBef>
                <a:spcPts val="1400"/>
              </a:spcBef>
            </a:pPr>
            <a:r>
              <a:rPr dirty="0" spc="125"/>
              <a:t>Non-</a:t>
            </a:r>
            <a:r>
              <a:rPr dirty="0" spc="70"/>
              <a:t>parametric</a:t>
            </a:r>
            <a:r>
              <a:rPr dirty="0" spc="-25"/>
              <a:t> </a:t>
            </a:r>
            <a:r>
              <a:rPr dirty="0" spc="80"/>
              <a:t>method</a:t>
            </a:r>
            <a:r>
              <a:rPr dirty="0" spc="-35"/>
              <a:t> </a:t>
            </a:r>
            <a:r>
              <a:rPr dirty="0" spc="60"/>
              <a:t>predicting</a:t>
            </a:r>
            <a:r>
              <a:rPr dirty="0" spc="-20"/>
              <a:t> </a:t>
            </a:r>
            <a:r>
              <a:rPr dirty="0" spc="55"/>
              <a:t>prices</a:t>
            </a:r>
            <a:r>
              <a:rPr dirty="0" spc="-5"/>
              <a:t> </a:t>
            </a:r>
            <a:r>
              <a:rPr dirty="0" spc="60"/>
              <a:t>based</a:t>
            </a:r>
            <a:r>
              <a:rPr dirty="0" spc="-30"/>
              <a:t> </a:t>
            </a:r>
            <a:r>
              <a:rPr dirty="0" spc="80"/>
              <a:t>on</a:t>
            </a:r>
            <a:r>
              <a:rPr dirty="0" spc="-15"/>
              <a:t> </a:t>
            </a:r>
            <a:r>
              <a:rPr dirty="0" spc="65"/>
              <a:t>nearest</a:t>
            </a:r>
            <a:r>
              <a:rPr dirty="0" spc="-20"/>
              <a:t> </a:t>
            </a:r>
            <a:r>
              <a:rPr dirty="0" spc="55"/>
              <a:t>data</a:t>
            </a:r>
            <a:r>
              <a:rPr dirty="0" spc="-20"/>
              <a:t> </a:t>
            </a:r>
            <a:r>
              <a:rPr dirty="0" spc="40"/>
              <a:t>points.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35"/>
              </a:spcBef>
            </a:pPr>
          </a:p>
          <a:p>
            <a:pPr marL="1260475">
              <a:lnSpc>
                <a:spcPct val="100000"/>
              </a:lnSpc>
            </a:pPr>
            <a:r>
              <a:rPr dirty="0" sz="1850" b="1">
                <a:latin typeface="Times New Roman"/>
                <a:cs typeface="Times New Roman"/>
              </a:rPr>
              <a:t>Random</a:t>
            </a:r>
            <a:r>
              <a:rPr dirty="0" sz="1850" spc="-50" b="1">
                <a:latin typeface="Times New Roman"/>
                <a:cs typeface="Times New Roman"/>
              </a:rPr>
              <a:t> </a:t>
            </a:r>
            <a:r>
              <a:rPr dirty="0" sz="1850" b="1">
                <a:latin typeface="Times New Roman"/>
                <a:cs typeface="Times New Roman"/>
              </a:rPr>
              <a:t>Forest</a:t>
            </a:r>
            <a:r>
              <a:rPr dirty="0" sz="1850" spc="-4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Regressor</a:t>
            </a:r>
            <a:endParaRPr sz="1850">
              <a:latin typeface="Times New Roman"/>
              <a:cs typeface="Times New Roman"/>
            </a:endParaRPr>
          </a:p>
          <a:p>
            <a:pPr marL="1260475">
              <a:lnSpc>
                <a:spcPct val="100000"/>
              </a:lnSpc>
              <a:spcBef>
                <a:spcPts val="1400"/>
              </a:spcBef>
            </a:pPr>
            <a:r>
              <a:rPr dirty="0" spc="75"/>
              <a:t>Ensemble</a:t>
            </a:r>
            <a:r>
              <a:rPr dirty="0" spc="-20"/>
              <a:t> </a:t>
            </a:r>
            <a:r>
              <a:rPr dirty="0" spc="80"/>
              <a:t>method</a:t>
            </a:r>
            <a:r>
              <a:rPr dirty="0" spc="-25"/>
              <a:t> </a:t>
            </a:r>
            <a:r>
              <a:rPr dirty="0" spc="55"/>
              <a:t>building</a:t>
            </a:r>
            <a:r>
              <a:rPr dirty="0" spc="-25"/>
              <a:t> </a:t>
            </a:r>
            <a:r>
              <a:rPr dirty="0" spc="60"/>
              <a:t>multiple</a:t>
            </a:r>
            <a:r>
              <a:rPr dirty="0" spc="-15"/>
              <a:t> </a:t>
            </a:r>
            <a:r>
              <a:rPr dirty="0" spc="65"/>
              <a:t>decision</a:t>
            </a:r>
            <a:r>
              <a:rPr dirty="0" spc="-5"/>
              <a:t> </a:t>
            </a:r>
            <a:r>
              <a:rPr dirty="0" spc="50"/>
              <a:t>trees,</a:t>
            </a:r>
            <a:r>
              <a:rPr dirty="0" spc="-20"/>
              <a:t> </a:t>
            </a:r>
            <a:r>
              <a:rPr dirty="0" spc="50"/>
              <a:t>robust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10"/>
              <a:t> overfitting.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12779502" y="7627619"/>
            <a:ext cx="1851025" cy="601980"/>
          </a:xfrm>
          <a:custGeom>
            <a:avLst/>
            <a:gdLst/>
            <a:ahLst/>
            <a:cxnLst/>
            <a:rect l="l" t="t" r="r" b="b"/>
            <a:pathLst>
              <a:path w="1851025" h="601979">
                <a:moveTo>
                  <a:pt x="1850898" y="0"/>
                </a:moveTo>
                <a:lnTo>
                  <a:pt x="0" y="0"/>
                </a:lnTo>
                <a:lnTo>
                  <a:pt x="0" y="601979"/>
                </a:lnTo>
                <a:lnTo>
                  <a:pt x="1850898" y="601979"/>
                </a:lnTo>
                <a:lnTo>
                  <a:pt x="1850898" y="0"/>
                </a:lnTo>
                <a:close/>
              </a:path>
            </a:pathLst>
          </a:custGeom>
          <a:solidFill>
            <a:srgbClr val="1C1D1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0"/>
            <a:ext cx="5486400" cy="82295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50" y="2329687"/>
            <a:ext cx="2727325" cy="7042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1050" y="3363772"/>
            <a:ext cx="7393305" cy="1866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100"/>
              </a:lnSpc>
              <a:spcBef>
                <a:spcPts val="95"/>
              </a:spcBef>
            </a:pP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Project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successfully</a:t>
            </a:r>
            <a:r>
              <a:rPr dirty="0" sz="1750" spc="-3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built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a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14">
                <a:solidFill>
                  <a:srgbClr val="C2C4B5"/>
                </a:solidFill>
                <a:latin typeface="Cambria"/>
                <a:cs typeface="Cambria"/>
              </a:rPr>
              <a:t>machine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learning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model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for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laptop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price prediction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5">
                <a:solidFill>
                  <a:srgbClr val="C2C4B5"/>
                </a:solidFill>
                <a:latin typeface="Cambria"/>
                <a:cs typeface="Cambria"/>
              </a:rPr>
              <a:t>using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hardware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specifications.</a:t>
            </a:r>
            <a:r>
              <a:rPr dirty="0" sz="1750" spc="-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preprocessing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pipeline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ensured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clean,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structured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input,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50" spc="-2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5">
                <a:solidFill>
                  <a:srgbClr val="C2C4B5"/>
                </a:solidFill>
                <a:latin typeface="Cambria"/>
                <a:cs typeface="Cambria"/>
              </a:rPr>
              <a:t>the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90">
                <a:solidFill>
                  <a:srgbClr val="C2C4B5"/>
                </a:solidFill>
                <a:latin typeface="Cambria"/>
                <a:cs typeface="Cambria"/>
              </a:rPr>
              <a:t>models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were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0">
                <a:solidFill>
                  <a:srgbClr val="C2C4B5"/>
                </a:solidFill>
                <a:latin typeface="Cambria"/>
                <a:cs typeface="Cambria"/>
              </a:rPr>
              <a:t>rigorously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evaluated.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Random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Forest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5">
                <a:solidFill>
                  <a:srgbClr val="C2C4B5"/>
                </a:solidFill>
                <a:latin typeface="Cambria"/>
                <a:cs typeface="Cambria"/>
              </a:rPr>
              <a:t>showed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strong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predictive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power,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while</a:t>
            </a:r>
            <a:r>
              <a:rPr dirty="0" sz="1750" spc="-15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5">
                <a:solidFill>
                  <a:srgbClr val="C2C4B5"/>
                </a:solidFill>
                <a:latin typeface="Cambria"/>
                <a:cs typeface="Cambria"/>
              </a:rPr>
              <a:t>Lasso </a:t>
            </a:r>
            <a:r>
              <a:rPr dirty="0" sz="1750" spc="80">
                <a:solidFill>
                  <a:srgbClr val="C2C4B5"/>
                </a:solidFill>
                <a:latin typeface="Cambria"/>
                <a:cs typeface="Cambria"/>
              </a:rPr>
              <a:t>Regression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00">
                <a:solidFill>
                  <a:srgbClr val="C2C4B5"/>
                </a:solidFill>
                <a:latin typeface="Cambria"/>
                <a:cs typeface="Cambria"/>
              </a:rPr>
              <a:t>and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170">
                <a:solidFill>
                  <a:srgbClr val="C2C4B5"/>
                </a:solidFill>
                <a:latin typeface="Cambria"/>
                <a:cs typeface="Cambria"/>
              </a:rPr>
              <a:t>KNN</a:t>
            </a:r>
            <a:r>
              <a:rPr dirty="0" sz="1750" spc="-2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55">
                <a:solidFill>
                  <a:srgbClr val="C2C4B5"/>
                </a:solidFill>
                <a:latin typeface="Cambria"/>
                <a:cs typeface="Cambria"/>
              </a:rPr>
              <a:t>provided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70">
                <a:solidFill>
                  <a:srgbClr val="C2C4B5"/>
                </a:solidFill>
                <a:latin typeface="Cambria"/>
                <a:cs typeface="Cambria"/>
              </a:rPr>
              <a:t>valuable</a:t>
            </a:r>
            <a:r>
              <a:rPr dirty="0" sz="1750" spc="-10">
                <a:solidFill>
                  <a:srgbClr val="C2C4B5"/>
                </a:solidFill>
                <a:latin typeface="Cambria"/>
                <a:cs typeface="Cambria"/>
              </a:rPr>
              <a:t> </a:t>
            </a:r>
            <a:r>
              <a:rPr dirty="0" sz="1750" spc="60">
                <a:solidFill>
                  <a:srgbClr val="C2C4B5"/>
                </a:solidFill>
                <a:latin typeface="Cambria"/>
                <a:cs typeface="Cambria"/>
              </a:rPr>
              <a:t>insights.</a:t>
            </a:r>
            <a:endParaRPr sz="1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2025-05-29T05:56:51Z</dcterms:created>
  <dcterms:modified xsi:type="dcterms:W3CDTF">2025-05-29T05:56:51Z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2025-05-29T00:00:00Z</vt:filetime>
  </property>
  <property fmtid="{D5CDD505-2E9C-101B-9397-08002B2CF9AE}" pid="5" name="Producer">
    <vt:lpwstr>Adobe PDF Services</vt:lpwstr>
  </property>
</Properties>
</file>